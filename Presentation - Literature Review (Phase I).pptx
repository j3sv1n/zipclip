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DA53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49AB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dirty="0" spc="-130"/>
              <a:t> </a:t>
            </a:r>
            <a:fld id="{81D60167-4931-47E6-BA6A-407CBD079E47}" type="slidenum">
              <a:rPr dirty="0" spc="-210"/>
              <a:t>#</a:t>
            </a:fld>
            <a:r>
              <a:rPr dirty="0" spc="-12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5"/>
              <a:t>19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DA53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49AB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dirty="0" spc="-130"/>
              <a:t> </a:t>
            </a:r>
            <a:fld id="{81D60167-4931-47E6-BA6A-407CBD079E47}" type="slidenum">
              <a:rPr dirty="0" spc="-210"/>
              <a:t>#</a:t>
            </a:fld>
            <a:r>
              <a:rPr dirty="0" spc="-12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5"/>
              <a:t>19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DA53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49AB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dirty="0" spc="-130"/>
              <a:t> </a:t>
            </a:r>
            <a:fld id="{81D60167-4931-47E6-BA6A-407CBD079E47}" type="slidenum">
              <a:rPr dirty="0" spc="-210"/>
              <a:t>#</a:t>
            </a:fld>
            <a:r>
              <a:rPr dirty="0" spc="-12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5"/>
              <a:t>19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DA53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49AB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dirty="0" spc="-130"/>
              <a:t> </a:t>
            </a:r>
            <a:fld id="{81D60167-4931-47E6-BA6A-407CBD079E47}" type="slidenum">
              <a:rPr dirty="0" spc="-210"/>
              <a:t>#</a:t>
            </a:fld>
            <a:r>
              <a:rPr dirty="0" spc="-12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5"/>
              <a:t>19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49AB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dirty="0" spc="-130"/>
              <a:t> </a:t>
            </a:r>
            <a:fld id="{81D60167-4931-47E6-BA6A-407CBD079E47}" type="slidenum">
              <a:rPr dirty="0" spc="-210"/>
              <a:t>#</a:t>
            </a:fld>
            <a:r>
              <a:rPr dirty="0" spc="-12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5"/>
              <a:t>19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15842" y="96710"/>
            <a:ext cx="7701167" cy="10272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DA53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06860" y="1738171"/>
            <a:ext cx="14971394" cy="6769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6694348" y="9942555"/>
            <a:ext cx="1651634" cy="371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49AB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dirty="0" spc="-130"/>
              <a:t> </a:t>
            </a:r>
            <a:fld id="{81D60167-4931-47E6-BA6A-407CBD079E47}" type="slidenum">
              <a:rPr dirty="0" spc="-210"/>
              <a:t>#</a:t>
            </a:fld>
            <a:r>
              <a:rPr dirty="0" spc="-12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5"/>
              <a:t>19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17538" y="2291184"/>
            <a:ext cx="6671945" cy="1957705"/>
          </a:xfrm>
          <a:prstGeom prst="rect"/>
        </p:spPr>
        <p:txBody>
          <a:bodyPr wrap="square" lIns="0" tIns="105410" rIns="0" bIns="0" rtlCol="0" vert="horz">
            <a:spAutoFit/>
          </a:bodyPr>
          <a:lstStyle/>
          <a:p>
            <a:pPr marL="970280" marR="5080" indent="-958215">
              <a:lnSpc>
                <a:spcPts val="7290"/>
              </a:lnSpc>
              <a:spcBef>
                <a:spcPts val="830"/>
              </a:spcBef>
            </a:pPr>
            <a:r>
              <a:rPr dirty="0" sz="6600" spc="114">
                <a:solidFill>
                  <a:srgbClr val="0049AB"/>
                </a:solidFill>
              </a:rPr>
              <a:t>MAIN</a:t>
            </a:r>
            <a:r>
              <a:rPr dirty="0" sz="6600">
                <a:solidFill>
                  <a:srgbClr val="0049AB"/>
                </a:solidFill>
              </a:rPr>
              <a:t> </a:t>
            </a:r>
            <a:r>
              <a:rPr dirty="0" sz="6600" spc="110">
                <a:solidFill>
                  <a:srgbClr val="0049AB"/>
                </a:solidFill>
              </a:rPr>
              <a:t>PROJECT </a:t>
            </a:r>
            <a:r>
              <a:rPr dirty="0" sz="6600" spc="-10">
                <a:solidFill>
                  <a:srgbClr val="E36B09"/>
                </a:solidFill>
              </a:rPr>
              <a:t>OVERVIEW</a:t>
            </a:r>
            <a:endParaRPr sz="6600"/>
          </a:p>
        </p:txBody>
      </p:sp>
      <p:sp>
        <p:nvSpPr>
          <p:cNvPr id="3" name="object 3"/>
          <p:cNvSpPr/>
          <p:nvPr/>
        </p:nvSpPr>
        <p:spPr>
          <a:xfrm>
            <a:off x="5897879" y="5124450"/>
            <a:ext cx="6492240" cy="38100"/>
          </a:xfrm>
          <a:custGeom>
            <a:avLst/>
            <a:gdLst/>
            <a:ahLst/>
            <a:cxnLst/>
            <a:rect l="l" t="t" r="r" b="b"/>
            <a:pathLst>
              <a:path w="6492240" h="38100">
                <a:moveTo>
                  <a:pt x="6492239" y="38099"/>
                </a:moveTo>
                <a:lnTo>
                  <a:pt x="0" y="38099"/>
                </a:lnTo>
                <a:lnTo>
                  <a:pt x="0" y="0"/>
                </a:lnTo>
                <a:lnTo>
                  <a:pt x="6492239" y="0"/>
                </a:lnTo>
                <a:lnTo>
                  <a:pt x="6492239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694348" y="9942555"/>
            <a:ext cx="1506220" cy="3714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Page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fld id="{81D60167-4931-47E6-BA6A-407CBD079E47}" type="slidenum"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6</a:t>
            </a:fld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of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70">
                <a:solidFill>
                  <a:srgbClr val="0049AB"/>
                </a:solidFill>
                <a:latin typeface="Lucida Sans Unicode"/>
                <a:cs typeface="Lucida Sans Unicode"/>
              </a:rPr>
              <a:t>19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6694348" y="9942555"/>
            <a:ext cx="1506220" cy="3714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Page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fld id="{81D60167-4931-47E6-BA6A-407CBD079E47}" type="slidenum"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6</a:t>
            </a:fld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of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70">
                <a:solidFill>
                  <a:srgbClr val="0049AB"/>
                </a:solidFill>
                <a:latin typeface="Lucida Sans Unicode"/>
                <a:cs typeface="Lucida Sans Unicode"/>
              </a:rPr>
              <a:t>19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23618" y="1646865"/>
            <a:ext cx="8370570" cy="133540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5200" spc="-85">
                <a:solidFill>
                  <a:srgbClr val="0049AB"/>
                </a:solidFill>
              </a:rPr>
              <a:t>ZipClip:</a:t>
            </a:r>
            <a:r>
              <a:rPr dirty="0" sz="5200" spc="-130">
                <a:solidFill>
                  <a:srgbClr val="0049AB"/>
                </a:solidFill>
              </a:rPr>
              <a:t> </a:t>
            </a:r>
            <a:r>
              <a:rPr dirty="0" sz="5200" spc="-20">
                <a:solidFill>
                  <a:srgbClr val="0049AB"/>
                </a:solidFill>
              </a:rPr>
              <a:t>Edit</a:t>
            </a:r>
            <a:r>
              <a:rPr dirty="0" sz="5200" spc="-125">
                <a:solidFill>
                  <a:srgbClr val="0049AB"/>
                </a:solidFill>
              </a:rPr>
              <a:t> </a:t>
            </a:r>
            <a:r>
              <a:rPr dirty="0" sz="5200">
                <a:solidFill>
                  <a:srgbClr val="0049AB"/>
                </a:solidFill>
              </a:rPr>
              <a:t>Less,</a:t>
            </a:r>
            <a:r>
              <a:rPr dirty="0" sz="5200" spc="-125">
                <a:solidFill>
                  <a:srgbClr val="0049AB"/>
                </a:solidFill>
              </a:rPr>
              <a:t> </a:t>
            </a:r>
            <a:r>
              <a:rPr dirty="0" sz="5200" spc="50">
                <a:solidFill>
                  <a:srgbClr val="0049AB"/>
                </a:solidFill>
              </a:rPr>
              <a:t>Post</a:t>
            </a:r>
            <a:r>
              <a:rPr dirty="0" sz="5200" spc="-125">
                <a:solidFill>
                  <a:srgbClr val="0049AB"/>
                </a:solidFill>
              </a:rPr>
              <a:t> </a:t>
            </a:r>
            <a:r>
              <a:rPr dirty="0" sz="5200" spc="-20">
                <a:solidFill>
                  <a:srgbClr val="0049AB"/>
                </a:solidFill>
              </a:rPr>
              <a:t>More</a:t>
            </a:r>
            <a:endParaRPr sz="5200"/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3300" spc="-95">
                <a:solidFill>
                  <a:srgbClr val="E36B09"/>
                </a:solidFill>
              </a:rPr>
              <a:t>Convert</a:t>
            </a:r>
            <a:r>
              <a:rPr dirty="0" sz="3300" spc="-114">
                <a:solidFill>
                  <a:srgbClr val="E36B09"/>
                </a:solidFill>
              </a:rPr>
              <a:t> </a:t>
            </a:r>
            <a:r>
              <a:rPr dirty="0" sz="3300" spc="-100">
                <a:solidFill>
                  <a:srgbClr val="E36B09"/>
                </a:solidFill>
              </a:rPr>
              <a:t>your</a:t>
            </a:r>
            <a:r>
              <a:rPr dirty="0" sz="3300" spc="-105">
                <a:solidFill>
                  <a:srgbClr val="E36B09"/>
                </a:solidFill>
              </a:rPr>
              <a:t> </a:t>
            </a:r>
            <a:r>
              <a:rPr dirty="0" sz="3300" spc="-50">
                <a:solidFill>
                  <a:srgbClr val="E36B09"/>
                </a:solidFill>
              </a:rPr>
              <a:t>videos</a:t>
            </a:r>
            <a:r>
              <a:rPr dirty="0" sz="3300" spc="-150">
                <a:solidFill>
                  <a:srgbClr val="E36B09"/>
                </a:solidFill>
              </a:rPr>
              <a:t> </a:t>
            </a:r>
            <a:r>
              <a:rPr dirty="0" sz="3300" spc="-10">
                <a:solidFill>
                  <a:srgbClr val="E36B09"/>
                </a:solidFill>
              </a:rPr>
              <a:t>into</a:t>
            </a:r>
            <a:r>
              <a:rPr dirty="0" sz="3300" spc="-120">
                <a:solidFill>
                  <a:srgbClr val="E36B09"/>
                </a:solidFill>
              </a:rPr>
              <a:t> </a:t>
            </a:r>
            <a:r>
              <a:rPr dirty="0" sz="3300" spc="-75">
                <a:solidFill>
                  <a:srgbClr val="E36B09"/>
                </a:solidFill>
              </a:rPr>
              <a:t>short-</a:t>
            </a:r>
            <a:r>
              <a:rPr dirty="0" sz="3300" spc="-70">
                <a:solidFill>
                  <a:srgbClr val="E36B09"/>
                </a:solidFill>
              </a:rPr>
              <a:t>form</a:t>
            </a:r>
            <a:r>
              <a:rPr dirty="0" sz="3300" spc="-120">
                <a:solidFill>
                  <a:srgbClr val="E36B09"/>
                </a:solidFill>
              </a:rPr>
              <a:t> </a:t>
            </a:r>
            <a:r>
              <a:rPr dirty="0" sz="3300" spc="-10">
                <a:solidFill>
                  <a:srgbClr val="E36B09"/>
                </a:solidFill>
              </a:rPr>
              <a:t>content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1177987" y="6563612"/>
            <a:ext cx="2936240" cy="2006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0"/>
              </a:spcBef>
            </a:pPr>
            <a:r>
              <a:rPr dirty="0" sz="2800" spc="70" b="1">
                <a:solidFill>
                  <a:srgbClr val="E36B09"/>
                </a:solidFill>
                <a:latin typeface="Times New Roman"/>
                <a:cs typeface="Times New Roman"/>
              </a:rPr>
              <a:t>PRESENTED</a:t>
            </a:r>
            <a:r>
              <a:rPr dirty="0" sz="2800" b="1">
                <a:solidFill>
                  <a:srgbClr val="E36B09"/>
                </a:solidFill>
                <a:latin typeface="Times New Roman"/>
                <a:cs typeface="Times New Roman"/>
              </a:rPr>
              <a:t> </a:t>
            </a:r>
            <a:r>
              <a:rPr dirty="0" sz="2800" spc="-35" b="1">
                <a:solidFill>
                  <a:srgbClr val="E36B09"/>
                </a:solidFill>
                <a:latin typeface="Times New Roman"/>
                <a:cs typeface="Times New Roman"/>
              </a:rPr>
              <a:t>BY: </a:t>
            </a:r>
            <a:r>
              <a:rPr dirty="0" sz="2800" spc="160">
                <a:solidFill>
                  <a:srgbClr val="0049AB"/>
                </a:solidFill>
                <a:latin typeface="Times New Roman"/>
                <a:cs typeface="Times New Roman"/>
              </a:rPr>
              <a:t>ABHIJITH</a:t>
            </a:r>
            <a:r>
              <a:rPr dirty="0" sz="2800" spc="30">
                <a:solidFill>
                  <a:srgbClr val="0049AB"/>
                </a:solidFill>
                <a:latin typeface="Times New Roman"/>
                <a:cs typeface="Times New Roman"/>
              </a:rPr>
              <a:t> </a:t>
            </a:r>
            <a:r>
              <a:rPr dirty="0" sz="2800" spc="265">
                <a:solidFill>
                  <a:srgbClr val="0049AB"/>
                </a:solidFill>
                <a:latin typeface="Times New Roman"/>
                <a:cs typeface="Times New Roman"/>
              </a:rPr>
              <a:t>R </a:t>
            </a:r>
            <a:r>
              <a:rPr dirty="0" sz="2800" spc="240">
                <a:solidFill>
                  <a:srgbClr val="0049AB"/>
                </a:solidFill>
                <a:latin typeface="Times New Roman"/>
                <a:cs typeface="Times New Roman"/>
              </a:rPr>
              <a:t>ANIRUDH</a:t>
            </a:r>
            <a:r>
              <a:rPr dirty="0" sz="2800" spc="35">
                <a:solidFill>
                  <a:srgbClr val="0049AB"/>
                </a:solidFill>
                <a:latin typeface="Times New Roman"/>
                <a:cs typeface="Times New Roman"/>
              </a:rPr>
              <a:t> </a:t>
            </a:r>
            <a:r>
              <a:rPr dirty="0" sz="2800" spc="120">
                <a:solidFill>
                  <a:srgbClr val="0049AB"/>
                </a:solidFill>
                <a:latin typeface="Times New Roman"/>
                <a:cs typeface="Times New Roman"/>
              </a:rPr>
              <a:t>KB </a:t>
            </a:r>
            <a:r>
              <a:rPr dirty="0" sz="2800" spc="114">
                <a:solidFill>
                  <a:srgbClr val="0049AB"/>
                </a:solidFill>
                <a:latin typeface="Times New Roman"/>
                <a:cs typeface="Times New Roman"/>
              </a:rPr>
              <a:t>JESVIN</a:t>
            </a:r>
            <a:r>
              <a:rPr dirty="0" sz="2800" spc="20">
                <a:solidFill>
                  <a:srgbClr val="0049AB"/>
                </a:solidFill>
                <a:latin typeface="Times New Roman"/>
                <a:cs typeface="Times New Roman"/>
              </a:rPr>
              <a:t> </a:t>
            </a:r>
            <a:r>
              <a:rPr dirty="0" sz="2800" spc="90">
                <a:solidFill>
                  <a:srgbClr val="0049AB"/>
                </a:solidFill>
                <a:latin typeface="Times New Roman"/>
                <a:cs typeface="Times New Roman"/>
              </a:rPr>
              <a:t>J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35536" y="6448830"/>
            <a:ext cx="5109210" cy="156845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3200" spc="-10" b="1">
                <a:solidFill>
                  <a:srgbClr val="E36B09"/>
                </a:solidFill>
                <a:latin typeface="Times New Roman"/>
                <a:cs typeface="Times New Roman"/>
              </a:rPr>
              <a:t>GUIDE: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3200" spc="120">
                <a:solidFill>
                  <a:srgbClr val="0049AB"/>
                </a:solidFill>
                <a:latin typeface="Times New Roman"/>
                <a:cs typeface="Times New Roman"/>
              </a:rPr>
              <a:t>Mrs.</a:t>
            </a:r>
            <a:r>
              <a:rPr dirty="0" sz="3200" spc="15">
                <a:solidFill>
                  <a:srgbClr val="0049AB"/>
                </a:solidFill>
                <a:latin typeface="Times New Roman"/>
                <a:cs typeface="Times New Roman"/>
              </a:rPr>
              <a:t> </a:t>
            </a:r>
            <a:r>
              <a:rPr dirty="0" sz="3200" spc="105">
                <a:solidFill>
                  <a:srgbClr val="0049AB"/>
                </a:solidFill>
                <a:latin typeface="Times New Roman"/>
                <a:cs typeface="Times New Roman"/>
              </a:rPr>
              <a:t>Sabitha</a:t>
            </a:r>
            <a:r>
              <a:rPr dirty="0" sz="3200" spc="20">
                <a:solidFill>
                  <a:srgbClr val="0049AB"/>
                </a:solidFill>
                <a:latin typeface="Times New Roman"/>
                <a:cs typeface="Times New Roman"/>
              </a:rPr>
              <a:t> </a:t>
            </a:r>
            <a:r>
              <a:rPr dirty="0" sz="3200" spc="130">
                <a:solidFill>
                  <a:srgbClr val="0049AB"/>
                </a:solidFill>
                <a:latin typeface="Times New Roman"/>
                <a:cs typeface="Times New Roman"/>
              </a:rPr>
              <a:t>Raju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3200" spc="145">
                <a:solidFill>
                  <a:srgbClr val="0049AB"/>
                </a:solidFill>
                <a:latin typeface="Times New Roman"/>
                <a:cs typeface="Times New Roman"/>
              </a:rPr>
              <a:t>Head</a:t>
            </a:r>
            <a:r>
              <a:rPr dirty="0" sz="3200">
                <a:solidFill>
                  <a:srgbClr val="0049AB"/>
                </a:solidFill>
                <a:latin typeface="Times New Roman"/>
                <a:cs typeface="Times New Roman"/>
              </a:rPr>
              <a:t> </a:t>
            </a:r>
            <a:r>
              <a:rPr dirty="0" sz="3200" spc="75">
                <a:solidFill>
                  <a:srgbClr val="0049AB"/>
                </a:solidFill>
                <a:latin typeface="Times New Roman"/>
                <a:cs typeface="Times New Roman"/>
              </a:rPr>
              <a:t>of</a:t>
            </a:r>
            <a:r>
              <a:rPr dirty="0" sz="3200" spc="5">
                <a:solidFill>
                  <a:srgbClr val="0049AB"/>
                </a:solidFill>
                <a:latin typeface="Times New Roman"/>
                <a:cs typeface="Times New Roman"/>
              </a:rPr>
              <a:t> </a:t>
            </a:r>
            <a:r>
              <a:rPr dirty="0" sz="3200" spc="95">
                <a:solidFill>
                  <a:srgbClr val="0049AB"/>
                </a:solidFill>
                <a:latin typeface="Times New Roman"/>
                <a:cs typeface="Times New Roman"/>
              </a:rPr>
              <a:t>the</a:t>
            </a:r>
            <a:r>
              <a:rPr dirty="0" sz="3200" spc="5">
                <a:solidFill>
                  <a:srgbClr val="0049AB"/>
                </a:solidFill>
                <a:latin typeface="Times New Roman"/>
                <a:cs typeface="Times New Roman"/>
              </a:rPr>
              <a:t> </a:t>
            </a:r>
            <a:r>
              <a:rPr dirty="0" sz="3200" spc="125">
                <a:solidFill>
                  <a:srgbClr val="0049AB"/>
                </a:solidFill>
                <a:latin typeface="Times New Roman"/>
                <a:cs typeface="Times New Roman"/>
              </a:rPr>
              <a:t>Department,</a:t>
            </a:r>
            <a:r>
              <a:rPr dirty="0" sz="3200" spc="5">
                <a:solidFill>
                  <a:srgbClr val="0049AB"/>
                </a:solidFill>
                <a:latin typeface="Times New Roman"/>
                <a:cs typeface="Times New Roman"/>
              </a:rPr>
              <a:t> </a:t>
            </a:r>
            <a:r>
              <a:rPr dirty="0" sz="3200" spc="195">
                <a:solidFill>
                  <a:srgbClr val="0049AB"/>
                </a:solidFill>
                <a:latin typeface="Times New Roman"/>
                <a:cs typeface="Times New Roman"/>
              </a:rPr>
              <a:t>CG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2611506"/>
            <a:ext cx="95250" cy="952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16360" y="2308599"/>
            <a:ext cx="15161894" cy="5168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95"/>
              </a:spcBef>
            </a:pPr>
            <a:r>
              <a:rPr dirty="0" sz="3200" spc="90">
                <a:latin typeface="Times New Roman"/>
                <a:cs typeface="Times New Roman"/>
              </a:rPr>
              <a:t>Long-</a:t>
            </a:r>
            <a:r>
              <a:rPr dirty="0" sz="3200" spc="105">
                <a:latin typeface="Times New Roman"/>
                <a:cs typeface="Times New Roman"/>
              </a:rPr>
              <a:t>form</a:t>
            </a:r>
            <a:r>
              <a:rPr dirty="0" sz="3200" spc="7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videos</a:t>
            </a:r>
            <a:r>
              <a:rPr dirty="0" sz="3200" spc="80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often</a:t>
            </a:r>
            <a:r>
              <a:rPr dirty="0" sz="3200" spc="80">
                <a:latin typeface="Times New Roman"/>
                <a:cs typeface="Times New Roman"/>
              </a:rPr>
              <a:t> </a:t>
            </a:r>
            <a:r>
              <a:rPr dirty="0" sz="3200" spc="60">
                <a:latin typeface="Times New Roman"/>
                <a:cs typeface="Times New Roman"/>
              </a:rPr>
              <a:t>hide</a:t>
            </a:r>
            <a:r>
              <a:rPr dirty="0" sz="3200" spc="80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the</a:t>
            </a:r>
            <a:r>
              <a:rPr dirty="0" sz="3200" spc="80">
                <a:latin typeface="Times New Roman"/>
                <a:cs typeface="Times New Roman"/>
              </a:rPr>
              <a:t> </a:t>
            </a:r>
            <a:r>
              <a:rPr dirty="0" sz="3200" spc="105">
                <a:latin typeface="Times New Roman"/>
                <a:cs typeface="Times New Roman"/>
              </a:rPr>
              <a:t>most</a:t>
            </a:r>
            <a:r>
              <a:rPr dirty="0" sz="3200" spc="80">
                <a:latin typeface="Times New Roman"/>
                <a:cs typeface="Times New Roman"/>
              </a:rPr>
              <a:t> </a:t>
            </a:r>
            <a:r>
              <a:rPr dirty="0" sz="3200" spc="50">
                <a:latin typeface="Times New Roman"/>
                <a:cs typeface="Times New Roman"/>
              </a:rPr>
              <a:t>engaging</a:t>
            </a:r>
            <a:r>
              <a:rPr dirty="0" sz="3200" spc="80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moments,</a:t>
            </a:r>
            <a:r>
              <a:rPr dirty="0" sz="3200" spc="7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but</a:t>
            </a:r>
            <a:r>
              <a:rPr dirty="0" sz="3200" spc="80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finding</a:t>
            </a:r>
            <a:r>
              <a:rPr dirty="0" sz="3200" spc="80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them</a:t>
            </a:r>
            <a:r>
              <a:rPr dirty="0" sz="3200" spc="80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manually</a:t>
            </a:r>
            <a:r>
              <a:rPr dirty="0" sz="3200" spc="80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Times New Roman"/>
                <a:cs typeface="Times New Roman"/>
              </a:rPr>
              <a:t>is </a:t>
            </a:r>
            <a:r>
              <a:rPr dirty="0" sz="3200">
                <a:latin typeface="Times New Roman"/>
                <a:cs typeface="Times New Roman"/>
              </a:rPr>
              <a:t>slow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exhausting.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05500"/>
              </a:lnSpc>
            </a:pPr>
            <a:r>
              <a:rPr dirty="0" sz="3200" spc="155">
                <a:latin typeface="Times New Roman"/>
                <a:cs typeface="Times New Roman"/>
              </a:rPr>
              <a:t>Many</a:t>
            </a:r>
            <a:r>
              <a:rPr dirty="0" sz="3200" spc="355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creators</a:t>
            </a:r>
            <a:r>
              <a:rPr dirty="0" sz="3200" spc="355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lack</a:t>
            </a:r>
            <a:r>
              <a:rPr dirty="0" sz="3200" spc="355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the</a:t>
            </a:r>
            <a:r>
              <a:rPr dirty="0" sz="3200" spc="355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time,</a:t>
            </a:r>
            <a:r>
              <a:rPr dirty="0" sz="3200" spc="36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skills,</a:t>
            </a:r>
            <a:r>
              <a:rPr dirty="0" sz="3200" spc="355">
                <a:latin typeface="Times New Roman"/>
                <a:cs typeface="Times New Roman"/>
              </a:rPr>
              <a:t> </a:t>
            </a:r>
            <a:r>
              <a:rPr dirty="0" sz="3200" spc="155">
                <a:latin typeface="Times New Roman"/>
                <a:cs typeface="Times New Roman"/>
              </a:rPr>
              <a:t>or</a:t>
            </a:r>
            <a:r>
              <a:rPr dirty="0" sz="3200" spc="355">
                <a:latin typeface="Times New Roman"/>
                <a:cs typeface="Times New Roman"/>
              </a:rPr>
              <a:t> </a:t>
            </a:r>
            <a:r>
              <a:rPr dirty="0" sz="3200" spc="50">
                <a:latin typeface="Times New Roman"/>
                <a:cs typeface="Times New Roman"/>
              </a:rPr>
              <a:t>resources</a:t>
            </a:r>
            <a:r>
              <a:rPr dirty="0" sz="3200" spc="355">
                <a:latin typeface="Times New Roman"/>
                <a:cs typeface="Times New Roman"/>
              </a:rPr>
              <a:t> </a:t>
            </a:r>
            <a:r>
              <a:rPr dirty="0" sz="3200" spc="165">
                <a:latin typeface="Times New Roman"/>
                <a:cs typeface="Times New Roman"/>
              </a:rPr>
              <a:t>to</a:t>
            </a:r>
            <a:r>
              <a:rPr dirty="0" sz="3200" spc="360">
                <a:latin typeface="Times New Roman"/>
                <a:cs typeface="Times New Roman"/>
              </a:rPr>
              <a:t> </a:t>
            </a:r>
            <a:r>
              <a:rPr dirty="0" sz="3200" spc="114">
                <a:latin typeface="Times New Roman"/>
                <a:cs typeface="Times New Roman"/>
              </a:rPr>
              <a:t>transform</a:t>
            </a:r>
            <a:r>
              <a:rPr dirty="0" sz="3200" spc="355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raw</a:t>
            </a:r>
            <a:r>
              <a:rPr dirty="0" sz="3200" spc="355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footage</a:t>
            </a:r>
            <a:r>
              <a:rPr dirty="0" sz="3200" spc="355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into</a:t>
            </a:r>
            <a:r>
              <a:rPr dirty="0" sz="3200" spc="355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short, </a:t>
            </a:r>
            <a:r>
              <a:rPr dirty="0" sz="3200" spc="60">
                <a:latin typeface="Times New Roman"/>
                <a:cs typeface="Times New Roman"/>
              </a:rPr>
              <a:t>polished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clips.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200" spc="50">
                <a:latin typeface="Times New Roman"/>
                <a:cs typeface="Times New Roman"/>
              </a:rPr>
              <a:t>Existing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editing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tools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are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60">
                <a:latin typeface="Times New Roman"/>
                <a:cs typeface="Times New Roman"/>
              </a:rPr>
              <a:t>either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too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45">
                <a:latin typeface="Times New Roman"/>
                <a:cs typeface="Times New Roman"/>
              </a:rPr>
              <a:t>complex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55">
                <a:latin typeface="Times New Roman"/>
                <a:cs typeface="Times New Roman"/>
              </a:rPr>
              <a:t>or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too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expensive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for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45">
                <a:latin typeface="Times New Roman"/>
                <a:cs typeface="Times New Roman"/>
              </a:rPr>
              <a:t>everyday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users.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05500"/>
              </a:lnSpc>
            </a:pPr>
            <a:r>
              <a:rPr dirty="0" sz="3200" spc="45">
                <a:latin typeface="Times New Roman"/>
                <a:cs typeface="Times New Roman"/>
              </a:rPr>
              <a:t>Missing</a:t>
            </a:r>
            <a:r>
              <a:rPr dirty="0" sz="3200" spc="5">
                <a:latin typeface="Times New Roman"/>
                <a:cs typeface="Times New Roman"/>
              </a:rPr>
              <a:t>  </a:t>
            </a:r>
            <a:r>
              <a:rPr dirty="0" sz="3200" spc="95">
                <a:latin typeface="Times New Roman"/>
                <a:cs typeface="Times New Roman"/>
              </a:rPr>
              <a:t>the</a:t>
            </a:r>
            <a:r>
              <a:rPr dirty="0" sz="3200" spc="10">
                <a:latin typeface="Times New Roman"/>
                <a:cs typeface="Times New Roman"/>
              </a:rPr>
              <a:t>  </a:t>
            </a:r>
            <a:r>
              <a:rPr dirty="0" sz="3200" spc="90">
                <a:latin typeface="Times New Roman"/>
                <a:cs typeface="Times New Roman"/>
              </a:rPr>
              <a:t>right</a:t>
            </a:r>
            <a:r>
              <a:rPr dirty="0" sz="3200" spc="10">
                <a:latin typeface="Times New Roman"/>
                <a:cs typeface="Times New Roman"/>
              </a:rPr>
              <a:t>  </a:t>
            </a:r>
            <a:r>
              <a:rPr dirty="0" sz="3200" spc="50">
                <a:latin typeface="Times New Roman"/>
                <a:cs typeface="Times New Roman"/>
              </a:rPr>
              <a:t>highlights</a:t>
            </a:r>
            <a:r>
              <a:rPr dirty="0" sz="3200" spc="10">
                <a:latin typeface="Times New Roman"/>
                <a:cs typeface="Times New Roman"/>
              </a:rPr>
              <a:t>  </a:t>
            </a:r>
            <a:r>
              <a:rPr dirty="0" sz="3200" spc="75">
                <a:latin typeface="Times New Roman"/>
                <a:cs typeface="Times New Roman"/>
              </a:rPr>
              <a:t>means</a:t>
            </a:r>
            <a:r>
              <a:rPr dirty="0" sz="3200" spc="10">
                <a:latin typeface="Times New Roman"/>
                <a:cs typeface="Times New Roman"/>
              </a:rPr>
              <a:t>  </a:t>
            </a:r>
            <a:r>
              <a:rPr dirty="0" sz="3200" spc="65">
                <a:latin typeface="Times New Roman"/>
                <a:cs typeface="Times New Roman"/>
              </a:rPr>
              <a:t>lost</a:t>
            </a:r>
            <a:r>
              <a:rPr dirty="0" sz="3200" spc="5">
                <a:latin typeface="Times New Roman"/>
                <a:cs typeface="Times New Roman"/>
              </a:rPr>
              <a:t>  </a:t>
            </a:r>
            <a:r>
              <a:rPr dirty="0" sz="3200" spc="60">
                <a:latin typeface="Times New Roman"/>
                <a:cs typeface="Times New Roman"/>
              </a:rPr>
              <a:t>audience</a:t>
            </a:r>
            <a:r>
              <a:rPr dirty="0" sz="3200" spc="10">
                <a:latin typeface="Times New Roman"/>
                <a:cs typeface="Times New Roman"/>
              </a:rPr>
              <a:t>  </a:t>
            </a:r>
            <a:r>
              <a:rPr dirty="0" sz="3200" spc="120">
                <a:latin typeface="Times New Roman"/>
                <a:cs typeface="Times New Roman"/>
              </a:rPr>
              <a:t>attention</a:t>
            </a:r>
            <a:r>
              <a:rPr dirty="0" sz="3200" spc="10">
                <a:latin typeface="Times New Roman"/>
                <a:cs typeface="Times New Roman"/>
              </a:rPr>
              <a:t> 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10">
                <a:latin typeface="Times New Roman"/>
                <a:cs typeface="Times New Roman"/>
              </a:rPr>
              <a:t>  </a:t>
            </a:r>
            <a:r>
              <a:rPr dirty="0" sz="3200" spc="70">
                <a:latin typeface="Times New Roman"/>
                <a:cs typeface="Times New Roman"/>
              </a:rPr>
              <a:t>reduced</a:t>
            </a:r>
            <a:r>
              <a:rPr dirty="0" sz="3200" spc="10">
                <a:latin typeface="Times New Roman"/>
                <a:cs typeface="Times New Roman"/>
              </a:rPr>
              <a:t>  </a:t>
            </a:r>
            <a:r>
              <a:rPr dirty="0" sz="3200" spc="90">
                <a:latin typeface="Times New Roman"/>
                <a:cs typeface="Times New Roman"/>
              </a:rPr>
              <a:t>impact</a:t>
            </a:r>
            <a:r>
              <a:rPr dirty="0" sz="3200" spc="5">
                <a:latin typeface="Times New Roman"/>
                <a:cs typeface="Times New Roman"/>
              </a:rPr>
              <a:t>  </a:t>
            </a:r>
            <a:r>
              <a:rPr dirty="0" sz="3200" spc="130">
                <a:latin typeface="Times New Roman"/>
                <a:cs typeface="Times New Roman"/>
              </a:rPr>
              <a:t>on </a:t>
            </a:r>
            <a:r>
              <a:rPr dirty="0" sz="3200" spc="100">
                <a:latin typeface="Times New Roman"/>
                <a:cs typeface="Times New Roman"/>
              </a:rPr>
              <a:t>short-</a:t>
            </a:r>
            <a:r>
              <a:rPr dirty="0" sz="3200" spc="105">
                <a:latin typeface="Times New Roman"/>
                <a:cs typeface="Times New Roman"/>
              </a:rPr>
              <a:t>form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platforms.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4154556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5697606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6726306"/>
            <a:ext cx="95250" cy="9524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4971" rIns="0" bIns="0" rtlCol="0" vert="horz">
            <a:spAutoFit/>
          </a:bodyPr>
          <a:lstStyle/>
          <a:p>
            <a:pPr marL="165862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PROBLEM</a:t>
            </a:r>
            <a:r>
              <a:rPr dirty="0" spc="5"/>
              <a:t> </a:t>
            </a:r>
            <a:r>
              <a:rPr dirty="0" spc="35"/>
              <a:t>STATEMENT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694348" y="9942555"/>
            <a:ext cx="1506220" cy="3714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Page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fld id="{81D60167-4931-47E6-BA6A-407CBD079E47}" type="slidenum"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6</a:t>
            </a:fld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of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70">
                <a:solidFill>
                  <a:srgbClr val="0049AB"/>
                </a:solidFill>
                <a:latin typeface="Lucida Sans Unicode"/>
                <a:cs typeface="Lucida Sans Unicode"/>
              </a:rPr>
              <a:t>19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4971" rIns="0" bIns="0" rtlCol="0" vert="horz">
            <a:spAutoFit/>
          </a:bodyPr>
          <a:lstStyle/>
          <a:p>
            <a:pPr marL="165862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4989" y="2619730"/>
            <a:ext cx="95250" cy="952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65000" y="2343569"/>
            <a:ext cx="13805535" cy="537083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205104">
              <a:lnSpc>
                <a:spcPts val="3829"/>
              </a:lnSpc>
              <a:spcBef>
                <a:spcPts val="235"/>
              </a:spcBef>
            </a:pPr>
            <a:r>
              <a:rPr dirty="0" sz="3200" spc="130">
                <a:latin typeface="Times New Roman"/>
                <a:cs typeface="Times New Roman"/>
              </a:rPr>
              <a:t>Automate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the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45">
                <a:latin typeface="Times New Roman"/>
                <a:cs typeface="Times New Roman"/>
              </a:rPr>
              <a:t>process </a:t>
            </a:r>
            <a:r>
              <a:rPr dirty="0" sz="3200" spc="75">
                <a:latin typeface="Times New Roman"/>
                <a:cs typeface="Times New Roman"/>
              </a:rPr>
              <a:t>of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70">
                <a:latin typeface="Times New Roman"/>
                <a:cs typeface="Times New Roman"/>
              </a:rPr>
              <a:t>extracting</a:t>
            </a:r>
            <a:r>
              <a:rPr dirty="0" sz="3200" spc="50">
                <a:latin typeface="Times New Roman"/>
                <a:cs typeface="Times New Roman"/>
              </a:rPr>
              <a:t> highlights </a:t>
            </a:r>
            <a:r>
              <a:rPr dirty="0" sz="3200" spc="105">
                <a:latin typeface="Times New Roman"/>
                <a:cs typeface="Times New Roman"/>
              </a:rPr>
              <a:t>from</a:t>
            </a:r>
            <a:r>
              <a:rPr dirty="0" sz="3200" spc="50">
                <a:latin typeface="Times New Roman"/>
                <a:cs typeface="Times New Roman"/>
              </a:rPr>
              <a:t> long-</a:t>
            </a:r>
            <a:r>
              <a:rPr dirty="0" sz="3200" spc="105">
                <a:latin typeface="Times New Roman"/>
                <a:cs typeface="Times New Roman"/>
              </a:rPr>
              <a:t>form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videos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using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70">
                <a:latin typeface="Times New Roman"/>
                <a:cs typeface="Times New Roman"/>
              </a:rPr>
              <a:t>AI-</a:t>
            </a:r>
            <a:r>
              <a:rPr dirty="0" sz="3200" spc="80">
                <a:latin typeface="Times New Roman"/>
                <a:cs typeface="Times New Roman"/>
              </a:rPr>
              <a:t>based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60">
                <a:latin typeface="Times New Roman"/>
                <a:cs typeface="Times New Roman"/>
              </a:rPr>
              <a:t>multi-</a:t>
            </a:r>
            <a:r>
              <a:rPr dirty="0" sz="3200" spc="110">
                <a:latin typeface="Times New Roman"/>
                <a:cs typeface="Times New Roman"/>
              </a:rPr>
              <a:t>modal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35">
                <a:latin typeface="Times New Roman"/>
                <a:cs typeface="Times New Roman"/>
              </a:rPr>
              <a:t>analysis.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203835">
              <a:lnSpc>
                <a:spcPts val="3829"/>
              </a:lnSpc>
            </a:pPr>
            <a:r>
              <a:rPr dirty="0" sz="3200" spc="75">
                <a:latin typeface="Times New Roman"/>
                <a:cs typeface="Times New Roman"/>
              </a:rPr>
              <a:t>Provide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</a:t>
            </a:r>
            <a:r>
              <a:rPr dirty="0" sz="3200" spc="55">
                <a:latin typeface="Times New Roman"/>
                <a:cs typeface="Times New Roman"/>
              </a:rPr>
              <a:t> interactive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platform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for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creators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spc="165">
                <a:latin typeface="Times New Roman"/>
                <a:cs typeface="Times New Roman"/>
              </a:rPr>
              <a:t>to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preview,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refine,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export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clips </a:t>
            </a:r>
            <a:r>
              <a:rPr dirty="0" sz="3200" spc="70">
                <a:latin typeface="Times New Roman"/>
                <a:cs typeface="Times New Roman"/>
              </a:rPr>
              <a:t>optimized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for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125">
                <a:latin typeface="Times New Roman"/>
                <a:cs typeface="Times New Roman"/>
              </a:rPr>
              <a:t>YouTube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Shorts,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114">
                <a:latin typeface="Times New Roman"/>
                <a:cs typeface="Times New Roman"/>
              </a:rPr>
              <a:t>Instagram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Reels,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105">
                <a:latin typeface="Times New Roman"/>
                <a:cs typeface="Times New Roman"/>
              </a:rPr>
              <a:t>TikTok.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829"/>
              </a:lnSpc>
            </a:pPr>
            <a:r>
              <a:rPr dirty="0" sz="3200" spc="95">
                <a:latin typeface="Times New Roman"/>
                <a:cs typeface="Times New Roman"/>
              </a:rPr>
              <a:t>Enable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easy</a:t>
            </a:r>
            <a:r>
              <a:rPr dirty="0" sz="3200" spc="65">
                <a:latin typeface="Times New Roman"/>
                <a:cs typeface="Times New Roman"/>
              </a:rPr>
              <a:t> </a:t>
            </a:r>
            <a:r>
              <a:rPr dirty="0" sz="3200" spc="105">
                <a:latin typeface="Times New Roman"/>
                <a:cs typeface="Times New Roman"/>
              </a:rPr>
              <a:t>content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creation</a:t>
            </a:r>
            <a:r>
              <a:rPr dirty="0" sz="3200" spc="65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by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allowing</a:t>
            </a:r>
            <a:r>
              <a:rPr dirty="0" sz="3200" spc="6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users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165">
                <a:latin typeface="Times New Roman"/>
                <a:cs typeface="Times New Roman"/>
              </a:rPr>
              <a:t>to</a:t>
            </a:r>
            <a:r>
              <a:rPr dirty="0" sz="3200" spc="65">
                <a:latin typeface="Times New Roman"/>
                <a:cs typeface="Times New Roman"/>
              </a:rPr>
              <a:t> generate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story</a:t>
            </a:r>
            <a:r>
              <a:rPr dirty="0" sz="3200" spc="6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reels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105">
                <a:latin typeface="Times New Roman"/>
                <a:cs typeface="Times New Roman"/>
              </a:rPr>
              <a:t>from</a:t>
            </a:r>
            <a:r>
              <a:rPr dirty="0" sz="3200" spc="65">
                <a:latin typeface="Times New Roman"/>
                <a:cs typeface="Times New Roman"/>
              </a:rPr>
              <a:t> </a:t>
            </a:r>
            <a:r>
              <a:rPr dirty="0" sz="3200" spc="60">
                <a:latin typeface="Times New Roman"/>
                <a:cs typeface="Times New Roman"/>
              </a:rPr>
              <a:t>their </a:t>
            </a:r>
            <a:r>
              <a:rPr dirty="0" sz="3200" spc="95">
                <a:latin typeface="Times New Roman"/>
                <a:cs typeface="Times New Roman"/>
              </a:rPr>
              <a:t>own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25">
                <a:latin typeface="Times New Roman"/>
                <a:cs typeface="Times New Roman"/>
              </a:rPr>
              <a:t>photos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with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AI-</a:t>
            </a:r>
            <a:r>
              <a:rPr dirty="0" sz="3200" spc="65">
                <a:latin typeface="Times New Roman"/>
                <a:cs typeface="Times New Roman"/>
              </a:rPr>
              <a:t>driven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transitions,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captions,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music.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246379">
              <a:lnSpc>
                <a:spcPts val="3829"/>
              </a:lnSpc>
            </a:pPr>
            <a:r>
              <a:rPr dirty="0" sz="3200" spc="95">
                <a:latin typeface="Times New Roman"/>
                <a:cs typeface="Times New Roman"/>
              </a:rPr>
              <a:t>Ensure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clips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preserve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narrative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flow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emotional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impact,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making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short-</a:t>
            </a:r>
            <a:r>
              <a:rPr dirty="0" sz="3200" spc="85">
                <a:latin typeface="Times New Roman"/>
                <a:cs typeface="Times New Roman"/>
              </a:rPr>
              <a:t>form </a:t>
            </a:r>
            <a:r>
              <a:rPr dirty="0" sz="3200" spc="105">
                <a:latin typeface="Times New Roman"/>
                <a:cs typeface="Times New Roman"/>
              </a:rPr>
              <a:t>content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more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50">
                <a:latin typeface="Times New Roman"/>
                <a:cs typeface="Times New Roman"/>
              </a:rPr>
              <a:t>engaging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platform-</a:t>
            </a:r>
            <a:r>
              <a:rPr dirty="0" sz="3200" spc="70">
                <a:latin typeface="Times New Roman"/>
                <a:cs typeface="Times New Roman"/>
              </a:rPr>
              <a:t>ready.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4989" y="4077055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4989" y="5534380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4989" y="6991705"/>
            <a:ext cx="95250" cy="952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694348" y="9942555"/>
            <a:ext cx="1506220" cy="3714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Page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fld id="{81D60167-4931-47E6-BA6A-407CBD079E47}" type="slidenum"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6</a:t>
            </a:fld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of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70">
                <a:solidFill>
                  <a:srgbClr val="0049AB"/>
                </a:solidFill>
                <a:latin typeface="Lucida Sans Unicode"/>
                <a:cs typeface="Lucida Sans Unicode"/>
              </a:rPr>
              <a:t>19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552" y="0"/>
            <a:ext cx="61594" cy="20320"/>
          </a:xfrm>
          <a:custGeom>
            <a:avLst/>
            <a:gdLst/>
            <a:ahLst/>
            <a:cxnLst/>
            <a:rect l="l" t="t" r="r" b="b"/>
            <a:pathLst>
              <a:path w="61594" h="20320">
                <a:moveTo>
                  <a:pt x="61219" y="0"/>
                </a:moveTo>
                <a:lnTo>
                  <a:pt x="30610" y="20121"/>
                </a:lnTo>
                <a:lnTo>
                  <a:pt x="26189" y="20121"/>
                </a:lnTo>
                <a:lnTo>
                  <a:pt x="1501" y="3626"/>
                </a:ln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8289" y="2683007"/>
            <a:ext cx="95250" cy="952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98300" y="2406846"/>
            <a:ext cx="12882880" cy="537083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1165860">
              <a:lnSpc>
                <a:spcPts val="3829"/>
              </a:lnSpc>
              <a:spcBef>
                <a:spcPts val="235"/>
              </a:spcBef>
            </a:pPr>
            <a:r>
              <a:rPr dirty="0" sz="3200" spc="130">
                <a:latin typeface="Times New Roman"/>
                <a:cs typeface="Times New Roman"/>
              </a:rPr>
              <a:t>Support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platform-</a:t>
            </a:r>
            <a:r>
              <a:rPr dirty="0" sz="3200">
                <a:latin typeface="Times New Roman"/>
                <a:cs typeface="Times New Roman"/>
              </a:rPr>
              <a:t>specific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105">
                <a:latin typeface="Times New Roman"/>
                <a:cs typeface="Times New Roman"/>
              </a:rPr>
              <a:t>formatting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so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clips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are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instantly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ready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for </a:t>
            </a:r>
            <a:r>
              <a:rPr dirty="0" sz="3200" spc="125">
                <a:latin typeface="Times New Roman"/>
                <a:cs typeface="Times New Roman"/>
              </a:rPr>
              <a:t>YouTube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Shorts,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114">
                <a:latin typeface="Times New Roman"/>
                <a:cs typeface="Times New Roman"/>
              </a:rPr>
              <a:t>Instagram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Reels,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spc="105">
                <a:latin typeface="Times New Roman"/>
                <a:cs typeface="Times New Roman"/>
              </a:rPr>
              <a:t>TikTok.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514350">
              <a:lnSpc>
                <a:spcPts val="3829"/>
              </a:lnSpc>
            </a:pPr>
            <a:r>
              <a:rPr dirty="0" sz="3200" spc="120">
                <a:latin typeface="Times New Roman"/>
                <a:cs typeface="Times New Roman"/>
              </a:rPr>
              <a:t>Incorporate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130">
                <a:latin typeface="Times New Roman"/>
                <a:cs typeface="Times New Roman"/>
              </a:rPr>
              <a:t>natural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70">
                <a:latin typeface="Times New Roman"/>
                <a:cs typeface="Times New Roman"/>
              </a:rPr>
              <a:t>language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125">
                <a:latin typeface="Times New Roman"/>
                <a:cs typeface="Times New Roman"/>
              </a:rPr>
              <a:t>prompts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(e.g.,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“show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all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funny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parts”)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for </a:t>
            </a:r>
            <a:r>
              <a:rPr dirty="0" sz="3200" spc="60">
                <a:latin typeface="Times New Roman"/>
                <a:cs typeface="Times New Roman"/>
              </a:rPr>
              <a:t>personalized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highlight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70">
                <a:latin typeface="Times New Roman"/>
                <a:cs typeface="Times New Roman"/>
              </a:rPr>
              <a:t>generation.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829"/>
              </a:lnSpc>
            </a:pPr>
            <a:r>
              <a:rPr dirty="0" sz="3200" spc="95">
                <a:latin typeface="Times New Roman"/>
                <a:cs typeface="Times New Roman"/>
              </a:rPr>
              <a:t>Ensure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scalability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with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 spc="170">
                <a:latin typeface="Times New Roman"/>
                <a:cs typeface="Times New Roman"/>
              </a:rPr>
              <a:t>a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 spc="125">
                <a:latin typeface="Times New Roman"/>
                <a:cs typeface="Times New Roman"/>
              </a:rPr>
              <a:t>modular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 spc="145">
                <a:latin typeface="Times New Roman"/>
                <a:cs typeface="Times New Roman"/>
              </a:rPr>
              <a:t>AI</a:t>
            </a:r>
            <a:r>
              <a:rPr dirty="0" sz="3200" spc="9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design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 spc="165">
                <a:latin typeface="Times New Roman"/>
                <a:cs typeface="Times New Roman"/>
              </a:rPr>
              <a:t>that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allows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adding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new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 spc="60">
                <a:latin typeface="Times New Roman"/>
                <a:cs typeface="Times New Roman"/>
              </a:rPr>
              <a:t>agents </a:t>
            </a:r>
            <a:r>
              <a:rPr dirty="0" sz="3200" spc="100">
                <a:latin typeface="Times New Roman"/>
                <a:cs typeface="Times New Roman"/>
              </a:rPr>
              <a:t>for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education,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sports,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55">
                <a:latin typeface="Times New Roman"/>
                <a:cs typeface="Times New Roman"/>
              </a:rPr>
              <a:t>or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50">
                <a:latin typeface="Times New Roman"/>
                <a:cs typeface="Times New Roman"/>
              </a:rPr>
              <a:t>event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videos.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415290">
              <a:lnSpc>
                <a:spcPts val="3829"/>
              </a:lnSpc>
            </a:pPr>
            <a:r>
              <a:rPr dirty="0" sz="3200" spc="75">
                <a:latin typeface="Times New Roman"/>
                <a:cs typeface="Times New Roman"/>
              </a:rPr>
              <a:t>Provide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170">
                <a:latin typeface="Times New Roman"/>
                <a:cs typeface="Times New Roman"/>
              </a:rPr>
              <a:t>a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120">
                <a:latin typeface="Times New Roman"/>
                <a:cs typeface="Times New Roman"/>
              </a:rPr>
              <a:t>foundation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for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future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enhancements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like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125">
                <a:latin typeface="Times New Roman"/>
                <a:cs typeface="Times New Roman"/>
              </a:rPr>
              <a:t>auto-</a:t>
            </a:r>
            <a:r>
              <a:rPr dirty="0" sz="3200">
                <a:latin typeface="Times New Roman"/>
                <a:cs typeface="Times New Roman"/>
              </a:rPr>
              <a:t>music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selection, </a:t>
            </a:r>
            <a:r>
              <a:rPr dirty="0" sz="3200" spc="55">
                <a:latin typeface="Times New Roman"/>
                <a:cs typeface="Times New Roman"/>
              </a:rPr>
              <a:t>subtitles,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60">
                <a:latin typeface="Times New Roman"/>
                <a:cs typeface="Times New Roman"/>
              </a:rPr>
              <a:t>multi-</a:t>
            </a:r>
            <a:r>
              <a:rPr dirty="0" sz="3200" spc="70">
                <a:latin typeface="Times New Roman"/>
                <a:cs typeface="Times New Roman"/>
              </a:rPr>
              <a:t>language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support.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8289" y="4140332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8289" y="5597657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8289" y="7054982"/>
            <a:ext cx="95250" cy="95249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4971" rIns="0" bIns="0" rtlCol="0" vert="horz">
            <a:spAutoFit/>
          </a:bodyPr>
          <a:lstStyle/>
          <a:p>
            <a:pPr marL="165862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694348" y="9942555"/>
            <a:ext cx="1506220" cy="3714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Page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fld id="{81D60167-4931-47E6-BA6A-407CBD079E47}" type="slidenum"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6</a:t>
            </a:fld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of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70">
                <a:solidFill>
                  <a:srgbClr val="0049AB"/>
                </a:solidFill>
                <a:latin typeface="Lucida Sans Unicode"/>
                <a:cs typeface="Lucida Sans Unicode"/>
              </a:rPr>
              <a:t>19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2549" y="2187095"/>
            <a:ext cx="95250" cy="952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92560" y="1910934"/>
            <a:ext cx="14792960" cy="634238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224154">
              <a:lnSpc>
                <a:spcPts val="3829"/>
              </a:lnSpc>
              <a:spcBef>
                <a:spcPts val="235"/>
              </a:spcBef>
            </a:pPr>
            <a:r>
              <a:rPr dirty="0" sz="3200" spc="-30" b="1">
                <a:latin typeface="Times New Roman"/>
                <a:cs typeface="Times New Roman"/>
              </a:rPr>
              <a:t>AI-</a:t>
            </a:r>
            <a:r>
              <a:rPr dirty="0" sz="3200" spc="-55" b="1">
                <a:latin typeface="Times New Roman"/>
                <a:cs typeface="Times New Roman"/>
              </a:rPr>
              <a:t>Powered</a:t>
            </a:r>
            <a:r>
              <a:rPr dirty="0" sz="3200" spc="-15" b="1">
                <a:latin typeface="Times New Roman"/>
                <a:cs typeface="Times New Roman"/>
              </a:rPr>
              <a:t> </a:t>
            </a:r>
            <a:r>
              <a:rPr dirty="0" sz="3200" spc="-25" b="1">
                <a:latin typeface="Times New Roman"/>
                <a:cs typeface="Times New Roman"/>
              </a:rPr>
              <a:t>Video</a:t>
            </a:r>
            <a:r>
              <a:rPr dirty="0" sz="3200" spc="-10" b="1">
                <a:latin typeface="Times New Roman"/>
                <a:cs typeface="Times New Roman"/>
              </a:rPr>
              <a:t> </a:t>
            </a:r>
            <a:r>
              <a:rPr dirty="0" sz="3200" spc="-65" b="1">
                <a:latin typeface="Times New Roman"/>
                <a:cs typeface="Times New Roman"/>
              </a:rPr>
              <a:t>Summarization</a:t>
            </a:r>
            <a:r>
              <a:rPr dirty="0" sz="3200" spc="-65">
                <a:latin typeface="Times New Roman"/>
                <a:cs typeface="Times New Roman"/>
              </a:rPr>
              <a:t>: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Automatically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analyze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50">
                <a:latin typeface="Times New Roman"/>
                <a:cs typeface="Times New Roman"/>
              </a:rPr>
              <a:t>long-</a:t>
            </a:r>
            <a:r>
              <a:rPr dirty="0" sz="3200" spc="105">
                <a:latin typeface="Times New Roman"/>
                <a:cs typeface="Times New Roman"/>
              </a:rPr>
              <a:t>form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videos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165">
                <a:latin typeface="Times New Roman"/>
                <a:cs typeface="Times New Roman"/>
              </a:rPr>
              <a:t>to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detect </a:t>
            </a:r>
            <a:r>
              <a:rPr dirty="0" sz="3200">
                <a:latin typeface="Times New Roman"/>
                <a:cs typeface="Times New Roman"/>
              </a:rPr>
              <a:t>scenes,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emotions,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key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moments,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producing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short-</a:t>
            </a:r>
            <a:r>
              <a:rPr dirty="0" sz="3200" spc="105">
                <a:latin typeface="Times New Roman"/>
                <a:cs typeface="Times New Roman"/>
              </a:rPr>
              <a:t>form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40">
                <a:latin typeface="Times New Roman"/>
                <a:cs typeface="Times New Roman"/>
              </a:rPr>
              <a:t>highlights.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829"/>
              </a:lnSpc>
            </a:pPr>
            <a:r>
              <a:rPr dirty="0" sz="3200" spc="-60" b="1">
                <a:latin typeface="Times New Roman"/>
                <a:cs typeface="Times New Roman"/>
              </a:rPr>
              <a:t>Interactive</a:t>
            </a:r>
            <a:r>
              <a:rPr dirty="0" sz="3200" spc="15" b="1">
                <a:latin typeface="Times New Roman"/>
                <a:cs typeface="Times New Roman"/>
              </a:rPr>
              <a:t> </a:t>
            </a:r>
            <a:r>
              <a:rPr dirty="0" sz="3200" spc="-50" b="1">
                <a:latin typeface="Times New Roman"/>
                <a:cs typeface="Times New Roman"/>
              </a:rPr>
              <a:t>Content</a:t>
            </a:r>
            <a:r>
              <a:rPr dirty="0" sz="3200" spc="15" b="1">
                <a:latin typeface="Times New Roman"/>
                <a:cs typeface="Times New Roman"/>
              </a:rPr>
              <a:t> </a:t>
            </a:r>
            <a:r>
              <a:rPr dirty="0" sz="3200" spc="-65" b="1">
                <a:latin typeface="Times New Roman"/>
                <a:cs typeface="Times New Roman"/>
              </a:rPr>
              <a:t>Creation:</a:t>
            </a:r>
            <a:r>
              <a:rPr dirty="0" sz="3200" spc="20" b="1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Provide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intuitive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35">
                <a:latin typeface="Times New Roman"/>
                <a:cs typeface="Times New Roman"/>
              </a:rPr>
              <a:t>dashboard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where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users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can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preview, </a:t>
            </a:r>
            <a:r>
              <a:rPr dirty="0" sz="3200">
                <a:latin typeface="Times New Roman"/>
                <a:cs typeface="Times New Roman"/>
              </a:rPr>
              <a:t>fine-</a:t>
            </a:r>
            <a:r>
              <a:rPr dirty="0" sz="3200" spc="100">
                <a:latin typeface="Times New Roman"/>
                <a:cs typeface="Times New Roman"/>
              </a:rPr>
              <a:t>tune,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export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clips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70">
                <a:latin typeface="Times New Roman"/>
                <a:cs typeface="Times New Roman"/>
              </a:rPr>
              <a:t>optimized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for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125">
                <a:latin typeface="Times New Roman"/>
                <a:cs typeface="Times New Roman"/>
              </a:rPr>
              <a:t>YouTube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Shorts,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114">
                <a:latin typeface="Times New Roman"/>
                <a:cs typeface="Times New Roman"/>
              </a:rPr>
              <a:t>Instagram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Reels,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135">
                <a:latin typeface="Times New Roman"/>
                <a:cs typeface="Times New Roman"/>
              </a:rPr>
              <a:t>and </a:t>
            </a:r>
            <a:r>
              <a:rPr dirty="0" sz="3200" spc="105">
                <a:latin typeface="Times New Roman"/>
                <a:cs typeface="Times New Roman"/>
              </a:rPr>
              <a:t>TikTok.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420370">
              <a:lnSpc>
                <a:spcPts val="3829"/>
              </a:lnSpc>
            </a:pPr>
            <a:r>
              <a:rPr dirty="0" sz="3200" b="1">
                <a:latin typeface="Times New Roman"/>
                <a:cs typeface="Times New Roman"/>
              </a:rPr>
              <a:t>Story</a:t>
            </a:r>
            <a:r>
              <a:rPr dirty="0" sz="3200" spc="1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Reel</a:t>
            </a:r>
            <a:r>
              <a:rPr dirty="0" sz="3200" spc="15" b="1">
                <a:latin typeface="Times New Roman"/>
                <a:cs typeface="Times New Roman"/>
              </a:rPr>
              <a:t> </a:t>
            </a:r>
            <a:r>
              <a:rPr dirty="0" sz="3200" spc="-75" b="1">
                <a:latin typeface="Times New Roman"/>
                <a:cs typeface="Times New Roman"/>
              </a:rPr>
              <a:t>Generation:</a:t>
            </a:r>
            <a:r>
              <a:rPr dirty="0" sz="3200" spc="15" b="1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Allow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users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65">
                <a:latin typeface="Times New Roman"/>
                <a:cs typeface="Times New Roman"/>
              </a:rPr>
              <a:t>to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25">
                <a:latin typeface="Times New Roman"/>
                <a:cs typeface="Times New Roman"/>
              </a:rPr>
              <a:t>upload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personal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25">
                <a:latin typeface="Times New Roman"/>
                <a:cs typeface="Times New Roman"/>
              </a:rPr>
              <a:t>photos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create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AI-</a:t>
            </a:r>
            <a:r>
              <a:rPr dirty="0" sz="3200" spc="55">
                <a:latin typeface="Times New Roman"/>
                <a:cs typeface="Times New Roman"/>
              </a:rPr>
              <a:t>driven </a:t>
            </a:r>
            <a:r>
              <a:rPr dirty="0" sz="3200">
                <a:latin typeface="Times New Roman"/>
                <a:cs typeface="Times New Roman"/>
              </a:rPr>
              <a:t>reels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with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captions,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transitions,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music.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467359">
              <a:lnSpc>
                <a:spcPts val="3829"/>
              </a:lnSpc>
            </a:pPr>
            <a:r>
              <a:rPr dirty="0" sz="3200" b="1">
                <a:latin typeface="Times New Roman"/>
                <a:cs typeface="Times New Roman"/>
              </a:rPr>
              <a:t>Scalable</a:t>
            </a:r>
            <a:r>
              <a:rPr dirty="0" sz="3200" spc="-70" b="1">
                <a:latin typeface="Times New Roman"/>
                <a:cs typeface="Times New Roman"/>
              </a:rPr>
              <a:t> </a:t>
            </a:r>
            <a:r>
              <a:rPr dirty="0" sz="3200" spc="-220" b="1">
                <a:latin typeface="Times New Roman"/>
                <a:cs typeface="Times New Roman"/>
              </a:rPr>
              <a:t>&amp;</a:t>
            </a:r>
            <a:r>
              <a:rPr dirty="0" sz="3200" spc="-5" b="1">
                <a:latin typeface="Times New Roman"/>
                <a:cs typeface="Times New Roman"/>
              </a:rPr>
              <a:t> </a:t>
            </a:r>
            <a:r>
              <a:rPr dirty="0" sz="3200" spc="-30" b="1">
                <a:latin typeface="Times New Roman"/>
                <a:cs typeface="Times New Roman"/>
              </a:rPr>
              <a:t>Extensible</a:t>
            </a:r>
            <a:r>
              <a:rPr dirty="0" sz="3200" spc="-35" b="1">
                <a:latin typeface="Times New Roman"/>
                <a:cs typeface="Times New Roman"/>
              </a:rPr>
              <a:t> </a:t>
            </a:r>
            <a:r>
              <a:rPr dirty="0" sz="3200" spc="-30" b="1">
                <a:latin typeface="Times New Roman"/>
                <a:cs typeface="Times New Roman"/>
              </a:rPr>
              <a:t>Design:</a:t>
            </a:r>
            <a:r>
              <a:rPr dirty="0" sz="3200" spc="-35" b="1">
                <a:latin typeface="Times New Roman"/>
                <a:cs typeface="Times New Roman"/>
              </a:rPr>
              <a:t> </a:t>
            </a:r>
            <a:r>
              <a:rPr dirty="0" sz="3200" spc="130">
                <a:latin typeface="Times New Roman"/>
                <a:cs typeface="Times New Roman"/>
              </a:rPr>
              <a:t>Support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 spc="125">
                <a:latin typeface="Times New Roman"/>
                <a:cs typeface="Times New Roman"/>
              </a:rPr>
              <a:t>modular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 spc="145">
                <a:latin typeface="Times New Roman"/>
                <a:cs typeface="Times New Roman"/>
              </a:rPr>
              <a:t>AI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agents,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making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the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system </a:t>
            </a:r>
            <a:r>
              <a:rPr dirty="0" sz="3200" spc="114">
                <a:latin typeface="Times New Roman"/>
                <a:cs typeface="Times New Roman"/>
              </a:rPr>
              <a:t>adaptable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for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future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use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cases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like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sports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50">
                <a:latin typeface="Times New Roman"/>
                <a:cs typeface="Times New Roman"/>
              </a:rPr>
              <a:t>highlights,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educational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content,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30">
                <a:latin typeface="Times New Roman"/>
                <a:cs typeface="Times New Roman"/>
              </a:rPr>
              <a:t>event </a:t>
            </a:r>
            <a:r>
              <a:rPr dirty="0" sz="3200" spc="35">
                <a:latin typeface="Times New Roman"/>
                <a:cs typeface="Times New Roman"/>
              </a:rPr>
              <a:t>coverage.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2549" y="3644420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2549" y="5587520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2549" y="7044845"/>
            <a:ext cx="95250" cy="9524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4971" rIns="0" bIns="0" rtlCol="0" vert="horz">
            <a:spAutoFit/>
          </a:bodyPr>
          <a:lstStyle/>
          <a:p>
            <a:pPr marL="1658620">
              <a:lnSpc>
                <a:spcPct val="100000"/>
              </a:lnSpc>
              <a:spcBef>
                <a:spcPts val="100"/>
              </a:spcBef>
            </a:pPr>
            <a:r>
              <a:rPr dirty="0" spc="90"/>
              <a:t>SCOPE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694348" y="9942555"/>
            <a:ext cx="1506220" cy="3714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Page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fld id="{81D60167-4931-47E6-BA6A-407CBD079E47}" type="slidenum"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6</a:t>
            </a:fld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of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70">
                <a:solidFill>
                  <a:srgbClr val="0049AB"/>
                </a:solidFill>
                <a:latin typeface="Lucida Sans Unicode"/>
                <a:cs typeface="Lucida Sans Unicode"/>
              </a:rPr>
              <a:t>19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8289" y="2712721"/>
            <a:ext cx="95250" cy="952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98300" y="2436559"/>
            <a:ext cx="14678025" cy="537083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34925">
              <a:lnSpc>
                <a:spcPts val="3829"/>
              </a:lnSpc>
              <a:spcBef>
                <a:spcPts val="235"/>
              </a:spcBef>
            </a:pPr>
            <a:r>
              <a:rPr dirty="0" sz="3200" spc="90">
                <a:latin typeface="Times New Roman"/>
                <a:cs typeface="Times New Roman"/>
              </a:rPr>
              <a:t>Long-</a:t>
            </a:r>
            <a:r>
              <a:rPr dirty="0" sz="3200" spc="105">
                <a:latin typeface="Times New Roman"/>
                <a:cs typeface="Times New Roman"/>
              </a:rPr>
              <a:t>form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videos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are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time-</a:t>
            </a:r>
            <a:r>
              <a:rPr dirty="0" sz="3200" spc="70">
                <a:latin typeface="Times New Roman"/>
                <a:cs typeface="Times New Roman"/>
              </a:rPr>
              <a:t>consuming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165">
                <a:latin typeface="Times New Roman"/>
                <a:cs typeface="Times New Roman"/>
              </a:rPr>
              <a:t>to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edit,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the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105">
                <a:latin typeface="Times New Roman"/>
                <a:cs typeface="Times New Roman"/>
              </a:rPr>
              <a:t>most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50">
                <a:latin typeface="Times New Roman"/>
                <a:cs typeface="Times New Roman"/>
              </a:rPr>
              <a:t>engaging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moments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often </a:t>
            </a:r>
            <a:r>
              <a:rPr dirty="0" sz="3200" spc="85">
                <a:latin typeface="Times New Roman"/>
                <a:cs typeface="Times New Roman"/>
              </a:rPr>
              <a:t>remain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hidden.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525780">
              <a:lnSpc>
                <a:spcPts val="3829"/>
              </a:lnSpc>
            </a:pPr>
            <a:r>
              <a:rPr dirty="0" sz="3200" spc="105">
                <a:latin typeface="Times New Roman"/>
                <a:cs typeface="Times New Roman"/>
              </a:rPr>
              <a:t>Creators,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educators,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marketers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spend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114">
                <a:latin typeface="Times New Roman"/>
                <a:cs typeface="Times New Roman"/>
              </a:rPr>
              <a:t>hours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manually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cutting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clips,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relying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130">
                <a:latin typeface="Times New Roman"/>
                <a:cs typeface="Times New Roman"/>
              </a:rPr>
              <a:t>on </a:t>
            </a:r>
            <a:r>
              <a:rPr dirty="0" sz="3200">
                <a:latin typeface="Times New Roman"/>
                <a:cs typeface="Times New Roman"/>
              </a:rPr>
              <a:t>costly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spc="155">
                <a:latin typeface="Times New Roman"/>
                <a:cs typeface="Times New Roman"/>
              </a:rPr>
              <a:t>or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45">
                <a:latin typeface="Times New Roman"/>
                <a:cs typeface="Times New Roman"/>
              </a:rPr>
              <a:t>complex</a:t>
            </a:r>
            <a:r>
              <a:rPr dirty="0" sz="3200" spc="55">
                <a:latin typeface="Times New Roman"/>
                <a:cs typeface="Times New Roman"/>
              </a:rPr>
              <a:t> editing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70">
                <a:latin typeface="Times New Roman"/>
                <a:cs typeface="Times New Roman"/>
              </a:rPr>
              <a:t>tools.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1370965">
              <a:lnSpc>
                <a:spcPts val="3829"/>
              </a:lnSpc>
            </a:pPr>
            <a:r>
              <a:rPr dirty="0" sz="3200" spc="55">
                <a:latin typeface="Times New Roman"/>
                <a:cs typeface="Times New Roman"/>
              </a:rPr>
              <a:t>Missed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50">
                <a:latin typeface="Times New Roman"/>
                <a:cs typeface="Times New Roman"/>
              </a:rPr>
              <a:t>highlights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60">
                <a:latin typeface="Times New Roman"/>
                <a:cs typeface="Times New Roman"/>
              </a:rPr>
              <a:t>reduce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60">
                <a:latin typeface="Times New Roman"/>
                <a:cs typeface="Times New Roman"/>
              </a:rPr>
              <a:t>audience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engagement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limit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80">
                <a:latin typeface="Times New Roman"/>
                <a:cs typeface="Times New Roman"/>
              </a:rPr>
              <a:t>reach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155">
                <a:latin typeface="Times New Roman"/>
                <a:cs typeface="Times New Roman"/>
              </a:rPr>
              <a:t>on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short-</a:t>
            </a:r>
            <a:r>
              <a:rPr dirty="0" sz="3200" spc="85">
                <a:latin typeface="Times New Roman"/>
                <a:cs typeface="Times New Roman"/>
              </a:rPr>
              <a:t>form </a:t>
            </a:r>
            <a:r>
              <a:rPr dirty="0" sz="3200" spc="80">
                <a:latin typeface="Times New Roman"/>
                <a:cs typeface="Times New Roman"/>
              </a:rPr>
              <a:t>platforms.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829"/>
              </a:lnSpc>
            </a:pPr>
            <a:r>
              <a:rPr dirty="0" sz="3200" spc="95">
                <a:latin typeface="Times New Roman"/>
                <a:cs typeface="Times New Roman"/>
              </a:rPr>
              <a:t>The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AI-</a:t>
            </a:r>
            <a:r>
              <a:rPr dirty="0" sz="3200" spc="65">
                <a:latin typeface="Times New Roman"/>
                <a:cs typeface="Times New Roman"/>
              </a:rPr>
              <a:t>driven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ZipClip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system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114">
                <a:latin typeface="Times New Roman"/>
                <a:cs typeface="Times New Roman"/>
              </a:rPr>
              <a:t>automates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highlight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extraction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story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reel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creation, </a:t>
            </a:r>
            <a:r>
              <a:rPr dirty="0" sz="3200" spc="90">
                <a:latin typeface="Times New Roman"/>
                <a:cs typeface="Times New Roman"/>
              </a:rPr>
              <a:t>making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05">
                <a:latin typeface="Times New Roman"/>
                <a:cs typeface="Times New Roman"/>
              </a:rPr>
              <a:t>content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14">
                <a:latin typeface="Times New Roman"/>
                <a:cs typeface="Times New Roman"/>
              </a:rPr>
              <a:t>production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faster,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smarter,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more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accessible.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8289" y="4170045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8289" y="5627370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8289" y="7084695"/>
            <a:ext cx="95250" cy="9524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4971" rIns="0" bIns="0" rtlCol="0" vert="horz">
            <a:spAutoFit/>
          </a:bodyPr>
          <a:lstStyle/>
          <a:p>
            <a:pPr marL="1658620">
              <a:lnSpc>
                <a:spcPct val="100000"/>
              </a:lnSpc>
              <a:spcBef>
                <a:spcPts val="100"/>
              </a:spcBef>
            </a:pPr>
            <a:r>
              <a:rPr dirty="0" spc="55"/>
              <a:t>INTRODUCTION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694348" y="9942555"/>
            <a:ext cx="1506220" cy="3714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Page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fld id="{81D60167-4931-47E6-BA6A-407CBD079E47}" type="slidenum"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6</a:t>
            </a:fld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of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70">
                <a:solidFill>
                  <a:srgbClr val="0049AB"/>
                </a:solidFill>
                <a:latin typeface="Lucida Sans Unicode"/>
                <a:cs typeface="Lucida Sans Unicode"/>
              </a:rPr>
              <a:t>19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6200" y="96710"/>
            <a:ext cx="3233420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 spc="-10" b="1">
                <a:solidFill>
                  <a:srgbClr val="E36B09"/>
                </a:solidFill>
                <a:latin typeface="Times New Roman"/>
                <a:cs typeface="Times New Roman"/>
              </a:rPr>
              <a:t>LITERATURE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 spc="-10">
                <a:solidFill>
                  <a:srgbClr val="E36B09"/>
                </a:solidFill>
              </a:rPr>
              <a:t>SURVEY</a:t>
            </a:r>
            <a:endParaRPr sz="3800"/>
          </a:p>
        </p:txBody>
      </p:sp>
      <p:sp>
        <p:nvSpPr>
          <p:cNvPr id="4" name="object 4"/>
          <p:cNvSpPr txBox="1"/>
          <p:nvPr/>
        </p:nvSpPr>
        <p:spPr>
          <a:xfrm>
            <a:off x="1230659" y="1257833"/>
            <a:ext cx="607060" cy="6338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0"/>
              </a:lnSpc>
            </a:pP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REF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45"/>
              </a:spcBef>
            </a:pPr>
            <a:endParaRPr sz="2400">
              <a:latin typeface="Times New Roman"/>
              <a:cs typeface="Times New Roman"/>
            </a:endParaRPr>
          </a:p>
          <a:p>
            <a:pPr marL="144145">
              <a:lnSpc>
                <a:spcPct val="100000"/>
              </a:lnSpc>
            </a:pPr>
            <a:r>
              <a:rPr dirty="0" sz="2400" spc="-25">
                <a:latin typeface="Times New Roman"/>
                <a:cs typeface="Times New Roman"/>
              </a:rPr>
              <a:t>[1]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2400">
              <a:latin typeface="Times New Roman"/>
              <a:cs typeface="Times New Roman"/>
            </a:endParaRPr>
          </a:p>
          <a:p>
            <a:pPr marL="144145">
              <a:lnSpc>
                <a:spcPct val="100000"/>
              </a:lnSpc>
            </a:pPr>
            <a:r>
              <a:rPr dirty="0" sz="2400" spc="-25">
                <a:latin typeface="Times New Roman"/>
                <a:cs typeface="Times New Roman"/>
              </a:rPr>
              <a:t>[2]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0655" y="1257833"/>
            <a:ext cx="4923790" cy="6967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74295">
              <a:lnSpc>
                <a:spcPts val="2200"/>
              </a:lnSpc>
            </a:pPr>
            <a:r>
              <a:rPr dirty="0" sz="2400" spc="65" b="1" i="1">
                <a:solidFill>
                  <a:srgbClr val="FFFFFF"/>
                </a:solidFill>
                <a:latin typeface="Times New Roman"/>
                <a:cs typeface="Times New Roman"/>
              </a:rPr>
              <a:t>TITLE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85"/>
              </a:spcBef>
            </a:pPr>
            <a:endParaRPr sz="2400">
              <a:latin typeface="Times New Roman"/>
              <a:cs typeface="Times New Roman"/>
            </a:endParaRPr>
          </a:p>
          <a:p>
            <a:pPr marR="76200">
              <a:lnSpc>
                <a:spcPts val="2850"/>
              </a:lnSpc>
            </a:pPr>
            <a:r>
              <a:rPr dirty="0" sz="2400" spc="75">
                <a:latin typeface="Times New Roman"/>
                <a:cs typeface="Times New Roman"/>
              </a:rPr>
              <a:t>X.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105">
                <a:latin typeface="Times New Roman"/>
                <a:cs typeface="Times New Roman"/>
              </a:rPr>
              <a:t>Zhou,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80">
                <a:latin typeface="Times New Roman"/>
                <a:cs typeface="Times New Roman"/>
              </a:rPr>
              <a:t>J.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60">
                <a:latin typeface="Times New Roman"/>
                <a:cs typeface="Times New Roman"/>
              </a:rPr>
              <a:t>Smith,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40">
                <a:latin typeface="Times New Roman"/>
                <a:cs typeface="Times New Roman"/>
              </a:rPr>
              <a:t>“Video </a:t>
            </a:r>
            <a:r>
              <a:rPr dirty="0" sz="2400" spc="75">
                <a:latin typeface="Times New Roman"/>
                <a:cs typeface="Times New Roman"/>
              </a:rPr>
              <a:t>summarization</a:t>
            </a:r>
            <a:r>
              <a:rPr dirty="0" sz="2400" spc="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deep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 spc="45">
                <a:latin typeface="Times New Roman"/>
                <a:cs typeface="Times New Roman"/>
              </a:rPr>
              <a:t>learning </a:t>
            </a:r>
            <a:r>
              <a:rPr dirty="0" sz="2400">
                <a:latin typeface="Times New Roman"/>
                <a:cs typeface="Times New Roman"/>
              </a:rPr>
              <a:t>techniques: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 spc="125">
                <a:latin typeface="Times New Roman"/>
                <a:cs typeface="Times New Roman"/>
              </a:rPr>
              <a:t>a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 spc="45">
                <a:latin typeface="Times New Roman"/>
                <a:cs typeface="Times New Roman"/>
              </a:rPr>
              <a:t>comprehensive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review,” </a:t>
            </a:r>
            <a:r>
              <a:rPr dirty="0" sz="2400" spc="150">
                <a:latin typeface="Times New Roman"/>
                <a:cs typeface="Times New Roman"/>
              </a:rPr>
              <a:t>ACM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 spc="90">
                <a:latin typeface="Times New Roman"/>
                <a:cs typeface="Times New Roman"/>
              </a:rPr>
              <a:t>Computing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Surveys,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vol.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56, </a:t>
            </a:r>
            <a:r>
              <a:rPr dirty="0" sz="2400" spc="95">
                <a:latin typeface="Times New Roman"/>
                <a:cs typeface="Times New Roman"/>
              </a:rPr>
              <a:t>no.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3,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pp.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44:1–</a:t>
            </a:r>
            <a:r>
              <a:rPr dirty="0" sz="2400">
                <a:latin typeface="Times New Roman"/>
                <a:cs typeface="Times New Roman"/>
              </a:rPr>
              <a:t>44:39,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2023.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14599"/>
              </a:lnSpc>
              <a:spcBef>
                <a:spcPts val="5"/>
              </a:spcBef>
            </a:pPr>
            <a:r>
              <a:rPr dirty="0" sz="2400" spc="70">
                <a:latin typeface="Times New Roman"/>
                <a:cs typeface="Times New Roman"/>
              </a:rPr>
              <a:t>Y.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Chen,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85">
                <a:latin typeface="Times New Roman"/>
                <a:cs typeface="Times New Roman"/>
              </a:rPr>
              <a:t>L.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Patel,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“Video </a:t>
            </a:r>
            <a:r>
              <a:rPr dirty="0" sz="2400" spc="70">
                <a:latin typeface="Times New Roman"/>
                <a:cs typeface="Times New Roman"/>
              </a:rPr>
              <a:t>summarization</a:t>
            </a:r>
            <a:r>
              <a:rPr dirty="0" sz="2400" spc="85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for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event-</a:t>
            </a:r>
            <a:r>
              <a:rPr dirty="0" sz="2400" spc="-10">
                <a:latin typeface="Times New Roman"/>
                <a:cs typeface="Times New Roman"/>
              </a:rPr>
              <a:t>centric </a:t>
            </a:r>
            <a:r>
              <a:rPr dirty="0" sz="2400">
                <a:latin typeface="Times New Roman"/>
                <a:cs typeface="Times New Roman"/>
              </a:rPr>
              <a:t>videos,”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125">
                <a:latin typeface="Times New Roman"/>
                <a:cs typeface="Times New Roman"/>
              </a:rPr>
              <a:t>IEEE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114">
                <a:latin typeface="Times New Roman"/>
                <a:cs typeface="Times New Roman"/>
              </a:rPr>
              <a:t>TNNLS,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vol.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34,</a:t>
            </a:r>
            <a:r>
              <a:rPr dirty="0" sz="2400" spc="80">
                <a:latin typeface="Times New Roman"/>
                <a:cs typeface="Times New Roman"/>
              </a:rPr>
              <a:t> </a:t>
            </a:r>
            <a:r>
              <a:rPr dirty="0" sz="2400" spc="90">
                <a:latin typeface="Times New Roman"/>
                <a:cs typeface="Times New Roman"/>
              </a:rPr>
              <a:t>no.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7,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dirty="0" sz="2400" spc="90">
                <a:latin typeface="Times New Roman"/>
                <a:cs typeface="Times New Roman"/>
              </a:rPr>
              <a:t>pp.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1126–</a:t>
            </a:r>
            <a:r>
              <a:rPr dirty="0" sz="2400">
                <a:latin typeface="Times New Roman"/>
                <a:cs typeface="Times New Roman"/>
              </a:rPr>
              <a:t>1138,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2023.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34201" y="1257833"/>
            <a:ext cx="3798570" cy="6967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38175">
              <a:lnSpc>
                <a:spcPts val="2200"/>
              </a:lnSpc>
            </a:pPr>
            <a:r>
              <a:rPr dirty="0" sz="2400" spc="120" b="1" i="1">
                <a:solidFill>
                  <a:srgbClr val="FFFFFF"/>
                </a:solidFill>
                <a:latin typeface="Times New Roman"/>
                <a:cs typeface="Times New Roman"/>
              </a:rPr>
              <a:t>KEY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40" b="1" i="1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95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ts val="2850"/>
              </a:lnSpc>
            </a:pPr>
            <a:r>
              <a:rPr dirty="0" sz="2400" spc="75">
                <a:latin typeface="Times New Roman"/>
                <a:cs typeface="Times New Roman"/>
              </a:rPr>
              <a:t>Deep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learning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models</a:t>
            </a:r>
            <a:r>
              <a:rPr dirty="0" sz="2400" spc="100">
                <a:latin typeface="Times New Roman"/>
                <a:cs typeface="Times New Roman"/>
              </a:rPr>
              <a:t> (CNN, </a:t>
            </a:r>
            <a:r>
              <a:rPr dirty="0" sz="2400" spc="75">
                <a:latin typeface="Times New Roman"/>
                <a:cs typeface="Times New Roman"/>
              </a:rPr>
              <a:t>LSTM).</a:t>
            </a:r>
            <a:endParaRPr sz="2400">
              <a:latin typeface="Times New Roman"/>
              <a:cs typeface="Times New Roman"/>
            </a:endParaRPr>
          </a:p>
          <a:p>
            <a:pPr marR="1135380">
              <a:lnSpc>
                <a:spcPts val="2850"/>
              </a:lnSpc>
            </a:pPr>
            <a:r>
              <a:rPr dirty="0" sz="2400" spc="50">
                <a:latin typeface="Times New Roman"/>
                <a:cs typeface="Times New Roman"/>
              </a:rPr>
              <a:t>Covers</a:t>
            </a:r>
            <a:r>
              <a:rPr dirty="0" sz="2400" spc="1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supervised</a:t>
            </a:r>
            <a:r>
              <a:rPr dirty="0" sz="2400" spc="20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&amp; </a:t>
            </a:r>
            <a:r>
              <a:rPr dirty="0" sz="2400" spc="40">
                <a:latin typeface="Times New Roman"/>
                <a:cs typeface="Times New Roman"/>
              </a:rPr>
              <a:t>unsupervised.</a:t>
            </a:r>
            <a:endParaRPr sz="2400">
              <a:latin typeface="Times New Roman"/>
              <a:cs typeface="Times New Roman"/>
            </a:endParaRPr>
          </a:p>
          <a:p>
            <a:pPr marR="631190">
              <a:lnSpc>
                <a:spcPts val="2850"/>
              </a:lnSpc>
            </a:pPr>
            <a:r>
              <a:rPr dirty="0" sz="2400">
                <a:latin typeface="Times New Roman"/>
                <a:cs typeface="Times New Roman"/>
              </a:rPr>
              <a:t>Scalable</a:t>
            </a:r>
            <a:r>
              <a:rPr dirty="0" sz="2400" spc="145">
                <a:latin typeface="Times New Roman"/>
                <a:cs typeface="Times New Roman"/>
              </a:rPr>
              <a:t> </a:t>
            </a:r>
            <a:r>
              <a:rPr dirty="0" sz="2400" spc="75">
                <a:latin typeface="Times New Roman"/>
                <a:cs typeface="Times New Roman"/>
              </a:rPr>
              <a:t>for</a:t>
            </a:r>
            <a:r>
              <a:rPr dirty="0" sz="2400" spc="150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user/creator </a:t>
            </a:r>
            <a:r>
              <a:rPr dirty="0" sz="2400" spc="60">
                <a:latin typeface="Times New Roman"/>
                <a:cs typeface="Times New Roman"/>
              </a:rPr>
              <a:t>platforms.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Times New Roman"/>
              <a:cs typeface="Times New Roman"/>
            </a:endParaRPr>
          </a:p>
          <a:p>
            <a:pPr marR="5715">
              <a:lnSpc>
                <a:spcPct val="114599"/>
              </a:lnSpc>
              <a:spcBef>
                <a:spcPts val="5"/>
              </a:spcBef>
            </a:pPr>
            <a:r>
              <a:rPr dirty="0" sz="2400" spc="50">
                <a:latin typeface="Times New Roman"/>
                <a:cs typeface="Times New Roman"/>
              </a:rPr>
              <a:t>Event-</a:t>
            </a:r>
            <a:r>
              <a:rPr dirty="0" sz="2400">
                <a:latin typeface="Times New Roman"/>
                <a:cs typeface="Times New Roman"/>
              </a:rPr>
              <a:t>driven</a:t>
            </a:r>
            <a:r>
              <a:rPr dirty="0" sz="2400" spc="295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summarization. </a:t>
            </a:r>
            <a:r>
              <a:rPr dirty="0" sz="2400" spc="90">
                <a:latin typeface="Times New Roman"/>
                <a:cs typeface="Times New Roman"/>
              </a:rPr>
              <a:t>Fusion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multimodal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35">
                <a:latin typeface="Times New Roman"/>
                <a:cs typeface="Times New Roman"/>
              </a:rPr>
              <a:t>features. </a:t>
            </a:r>
            <a:r>
              <a:rPr dirty="0" sz="2400">
                <a:latin typeface="Times New Roman"/>
                <a:cs typeface="Times New Roman"/>
              </a:rPr>
              <a:t>Designed</a:t>
            </a:r>
            <a:r>
              <a:rPr dirty="0" sz="2400" spc="170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for</a:t>
            </a:r>
            <a:r>
              <a:rPr dirty="0" sz="2400" spc="1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highlights </a:t>
            </a:r>
            <a:r>
              <a:rPr dirty="0" sz="2400" spc="60">
                <a:latin typeface="Times New Roman"/>
                <a:cs typeface="Times New Roman"/>
              </a:rPr>
              <a:t>extraction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114">
                <a:latin typeface="Times New Roman"/>
                <a:cs typeface="Times New Roman"/>
              </a:rPr>
              <a:t>and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45">
                <a:latin typeface="Times New Roman"/>
                <a:cs typeface="Times New Roman"/>
              </a:rPr>
              <a:t>context.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03949" y="1257833"/>
            <a:ext cx="3786504" cy="6757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7175">
              <a:lnSpc>
                <a:spcPts val="2200"/>
              </a:lnSpc>
            </a:pPr>
            <a:r>
              <a:rPr dirty="0" sz="2400" spc="80" b="1" i="1">
                <a:solidFill>
                  <a:srgbClr val="FFFFFF"/>
                </a:solidFill>
                <a:latin typeface="Times New Roman"/>
                <a:cs typeface="Times New Roman"/>
              </a:rPr>
              <a:t>GAPS</a:t>
            </a:r>
            <a:r>
              <a:rPr dirty="0" sz="2400" spc="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IDENTIFIED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85"/>
              </a:spcBef>
            </a:pPr>
            <a:endParaRPr sz="2400">
              <a:latin typeface="Times New Roman"/>
              <a:cs typeface="Times New Roman"/>
            </a:endParaRPr>
          </a:p>
          <a:p>
            <a:pPr marL="76200" marR="2540" indent="-76835">
              <a:lnSpc>
                <a:spcPct val="114599"/>
              </a:lnSpc>
            </a:pPr>
            <a:r>
              <a:rPr dirty="0" sz="2400" spc="60">
                <a:latin typeface="Times New Roman"/>
                <a:cs typeface="Times New Roman"/>
              </a:rPr>
              <a:t>Limited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real-</a:t>
            </a:r>
            <a:r>
              <a:rPr dirty="0" sz="2400" spc="50">
                <a:latin typeface="Times New Roman"/>
                <a:cs typeface="Times New Roman"/>
              </a:rPr>
              <a:t>time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evaluation. </a:t>
            </a:r>
            <a:r>
              <a:rPr dirty="0" sz="2400">
                <a:latin typeface="Times New Roman"/>
                <a:cs typeface="Times New Roman"/>
              </a:rPr>
              <a:t>Bias</a:t>
            </a:r>
            <a:r>
              <a:rPr dirty="0" sz="2400" spc="50">
                <a:latin typeface="Times New Roman"/>
                <a:cs typeface="Times New Roman"/>
              </a:rPr>
              <a:t> in </a:t>
            </a:r>
            <a:r>
              <a:rPr dirty="0" sz="2400" spc="55">
                <a:latin typeface="Times New Roman"/>
                <a:cs typeface="Times New Roman"/>
              </a:rPr>
              <a:t>datasets.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65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14599"/>
              </a:lnSpc>
              <a:tabLst>
                <a:tab pos="730885" algn="l"/>
                <a:tab pos="1697355" algn="l"/>
                <a:tab pos="2244725" algn="l"/>
                <a:tab pos="3011170" algn="l"/>
              </a:tabLst>
            </a:pPr>
            <a:r>
              <a:rPr dirty="0" sz="2400" spc="130">
                <a:latin typeface="Times New Roman"/>
                <a:cs typeface="Times New Roman"/>
              </a:rPr>
              <a:t>Not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40">
                <a:latin typeface="Times New Roman"/>
                <a:cs typeface="Times New Roman"/>
              </a:rPr>
              <a:t>tested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95">
                <a:latin typeface="Times New Roman"/>
                <a:cs typeface="Times New Roman"/>
              </a:rPr>
              <a:t>on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very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75">
                <a:latin typeface="Times New Roman"/>
                <a:cs typeface="Times New Roman"/>
              </a:rPr>
              <a:t>short-</a:t>
            </a:r>
            <a:r>
              <a:rPr dirty="0" sz="2400" spc="85">
                <a:latin typeface="Times New Roman"/>
                <a:cs typeface="Times New Roman"/>
              </a:rPr>
              <a:t>form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65">
                <a:latin typeface="Times New Roman"/>
                <a:cs typeface="Times New Roman"/>
              </a:rPr>
              <a:t>content.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dirty="0" sz="2400" spc="60">
                <a:latin typeface="Times New Roman"/>
                <a:cs typeface="Times New Roman"/>
              </a:rPr>
              <a:t>Limited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domain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adaptation.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28700" y="1090612"/>
            <a:ext cx="15557500" cy="8153400"/>
            <a:chOff x="1028700" y="1090612"/>
            <a:chExt cx="15557500" cy="8153400"/>
          </a:xfrm>
        </p:grpSpPr>
        <p:sp>
          <p:nvSpPr>
            <p:cNvPr id="9" name="object 9"/>
            <p:cNvSpPr/>
            <p:nvPr/>
          </p:nvSpPr>
          <p:spPr>
            <a:xfrm>
              <a:off x="1031074" y="1095387"/>
              <a:ext cx="15553055" cy="8143875"/>
            </a:xfrm>
            <a:custGeom>
              <a:avLst/>
              <a:gdLst/>
              <a:ahLst/>
              <a:cxnLst/>
              <a:rect l="l" t="t" r="r" b="b"/>
              <a:pathLst>
                <a:path w="15553055" h="8143875">
                  <a:moveTo>
                    <a:pt x="15552738" y="0"/>
                  </a:moveTo>
                  <a:lnTo>
                    <a:pt x="11061040" y="0"/>
                  </a:lnTo>
                  <a:lnTo>
                    <a:pt x="6191440" y="0"/>
                  </a:lnTo>
                  <a:lnTo>
                    <a:pt x="1005814" y="0"/>
                  </a:lnTo>
                  <a:lnTo>
                    <a:pt x="0" y="0"/>
                  </a:lnTo>
                  <a:lnTo>
                    <a:pt x="0" y="8143468"/>
                  </a:lnTo>
                  <a:lnTo>
                    <a:pt x="1005814" y="8143468"/>
                  </a:lnTo>
                  <a:lnTo>
                    <a:pt x="6191440" y="8143468"/>
                  </a:lnTo>
                  <a:lnTo>
                    <a:pt x="11061040" y="8143468"/>
                  </a:lnTo>
                  <a:lnTo>
                    <a:pt x="15552738" y="8143468"/>
                  </a:lnTo>
                  <a:lnTo>
                    <a:pt x="155527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28700" y="1092993"/>
              <a:ext cx="15557500" cy="8148320"/>
            </a:xfrm>
            <a:custGeom>
              <a:avLst/>
              <a:gdLst/>
              <a:ahLst/>
              <a:cxnLst/>
              <a:rect l="l" t="t" r="r" b="b"/>
              <a:pathLst>
                <a:path w="15557500" h="8148320">
                  <a:moveTo>
                    <a:pt x="2380" y="2380"/>
                  </a:moveTo>
                  <a:lnTo>
                    <a:pt x="2380" y="8145856"/>
                  </a:lnTo>
                </a:path>
                <a:path w="15557500" h="8148320">
                  <a:moveTo>
                    <a:pt x="1008193" y="2380"/>
                  </a:moveTo>
                  <a:lnTo>
                    <a:pt x="1008193" y="8145856"/>
                  </a:lnTo>
                </a:path>
                <a:path w="15557500" h="8148320">
                  <a:moveTo>
                    <a:pt x="6193817" y="2380"/>
                  </a:moveTo>
                  <a:lnTo>
                    <a:pt x="6193817" y="8145856"/>
                  </a:lnTo>
                </a:path>
                <a:path w="15557500" h="8148320">
                  <a:moveTo>
                    <a:pt x="11063416" y="2380"/>
                  </a:moveTo>
                  <a:lnTo>
                    <a:pt x="11063416" y="8145856"/>
                  </a:lnTo>
                </a:path>
                <a:path w="15557500" h="8148320">
                  <a:moveTo>
                    <a:pt x="15555117" y="2380"/>
                  </a:moveTo>
                  <a:lnTo>
                    <a:pt x="15555117" y="8145856"/>
                  </a:lnTo>
                </a:path>
                <a:path w="15557500" h="8148320">
                  <a:moveTo>
                    <a:pt x="0" y="0"/>
                  </a:moveTo>
                  <a:lnTo>
                    <a:pt x="15557499" y="0"/>
                  </a:lnTo>
                </a:path>
                <a:path w="15557500" h="8148320">
                  <a:moveTo>
                    <a:pt x="0" y="1019174"/>
                  </a:moveTo>
                  <a:lnTo>
                    <a:pt x="15557499" y="1019174"/>
                  </a:lnTo>
                </a:path>
                <a:path w="15557500" h="8148320">
                  <a:moveTo>
                    <a:pt x="0" y="4566690"/>
                  </a:moveTo>
                  <a:lnTo>
                    <a:pt x="15557499" y="4566690"/>
                  </a:lnTo>
                </a:path>
                <a:path w="15557500" h="8148320">
                  <a:moveTo>
                    <a:pt x="0" y="8148237"/>
                  </a:moveTo>
                  <a:lnTo>
                    <a:pt x="15557499" y="8148237"/>
                  </a:lnTo>
                </a:path>
              </a:pathLst>
            </a:custGeom>
            <a:ln w="4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6694348" y="9942555"/>
            <a:ext cx="1506220" cy="3714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Page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fld id="{81D60167-4931-47E6-BA6A-407CBD079E47}" type="slidenum"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6</a:t>
            </a:fld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of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70">
                <a:solidFill>
                  <a:srgbClr val="0049AB"/>
                </a:solidFill>
                <a:latin typeface="Lucida Sans Unicode"/>
                <a:cs typeface="Lucida Sans Unicode"/>
              </a:rPr>
              <a:t>19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3082" y="402322"/>
            <a:ext cx="607060" cy="7623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0"/>
              </a:lnSpc>
            </a:pP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REF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2400">
              <a:latin typeface="Times New Roman"/>
              <a:cs typeface="Times New Roman"/>
            </a:endParaRPr>
          </a:p>
          <a:p>
            <a:pPr marL="144145">
              <a:lnSpc>
                <a:spcPct val="100000"/>
              </a:lnSpc>
            </a:pPr>
            <a:r>
              <a:rPr dirty="0" sz="2400" spc="-25">
                <a:latin typeface="Times New Roman"/>
                <a:cs typeface="Times New Roman"/>
              </a:rPr>
              <a:t>[3]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400">
              <a:latin typeface="Times New Roman"/>
              <a:cs typeface="Times New Roman"/>
            </a:endParaRPr>
          </a:p>
          <a:p>
            <a:pPr marL="144145">
              <a:lnSpc>
                <a:spcPct val="100000"/>
              </a:lnSpc>
            </a:pPr>
            <a:r>
              <a:rPr dirty="0" sz="2400" spc="-25">
                <a:latin typeface="Times New Roman"/>
                <a:cs typeface="Times New Roman"/>
              </a:rPr>
              <a:t>[4]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27457" y="402322"/>
            <a:ext cx="4927600" cy="8166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3335">
              <a:lnSpc>
                <a:spcPts val="2200"/>
              </a:lnSpc>
            </a:pPr>
            <a:r>
              <a:rPr dirty="0" sz="2400" spc="65" b="1" i="1">
                <a:solidFill>
                  <a:srgbClr val="FFFFFF"/>
                </a:solidFill>
                <a:latin typeface="Times New Roman"/>
                <a:cs typeface="Times New Roman"/>
              </a:rPr>
              <a:t>TITLE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ts val="2850"/>
              </a:lnSpc>
            </a:pPr>
            <a:r>
              <a:rPr dirty="0" sz="2400" spc="140">
                <a:latin typeface="Times New Roman"/>
                <a:cs typeface="Times New Roman"/>
              </a:rPr>
              <a:t>M.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125">
                <a:latin typeface="Times New Roman"/>
                <a:cs typeface="Times New Roman"/>
              </a:rPr>
              <a:t>Gupta,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et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al,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85">
                <a:latin typeface="Times New Roman"/>
                <a:cs typeface="Times New Roman"/>
              </a:rPr>
              <a:t>“AI-</a:t>
            </a:r>
            <a:r>
              <a:rPr dirty="0" sz="2400" spc="50">
                <a:latin typeface="Times New Roman"/>
                <a:cs typeface="Times New Roman"/>
              </a:rPr>
              <a:t>driven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video </a:t>
            </a:r>
            <a:r>
              <a:rPr dirty="0" sz="2400" spc="75">
                <a:latin typeface="Times New Roman"/>
                <a:cs typeface="Times New Roman"/>
              </a:rPr>
              <a:t>summarization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75">
                <a:latin typeface="Times New Roman"/>
                <a:cs typeface="Times New Roman"/>
              </a:rPr>
              <a:t>for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optimizing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content </a:t>
            </a:r>
            <a:r>
              <a:rPr dirty="0" sz="2400" spc="50">
                <a:latin typeface="Times New Roman"/>
                <a:cs typeface="Times New Roman"/>
              </a:rPr>
              <a:t>search </a:t>
            </a:r>
            <a:r>
              <a:rPr dirty="0" sz="2400" spc="120">
                <a:latin typeface="Times New Roman"/>
                <a:cs typeface="Times New Roman"/>
              </a:rPr>
              <a:t>and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spc="45">
                <a:latin typeface="Times New Roman"/>
                <a:cs typeface="Times New Roman"/>
              </a:rPr>
              <a:t>retrieval</a:t>
            </a:r>
            <a:r>
              <a:rPr dirty="0" sz="2400" spc="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efficiency,”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Sci </a:t>
            </a:r>
            <a:r>
              <a:rPr dirty="0" sz="2400" spc="95">
                <a:latin typeface="Times New Roman"/>
                <a:cs typeface="Times New Roman"/>
              </a:rPr>
              <a:t>Rep,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vol.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15,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no.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2,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pp.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141–</a:t>
            </a:r>
            <a:r>
              <a:rPr dirty="0" sz="2400" spc="-20">
                <a:latin typeface="Times New Roman"/>
                <a:cs typeface="Times New Roman"/>
              </a:rPr>
              <a:t>150,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ts val="2760"/>
              </a:lnSpc>
            </a:pPr>
            <a:r>
              <a:rPr dirty="0" sz="2400" spc="-10">
                <a:latin typeface="Times New Roman"/>
                <a:cs typeface="Times New Roman"/>
              </a:rPr>
              <a:t>2025.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5"/>
              </a:spcBef>
            </a:pPr>
            <a:endParaRPr sz="2400">
              <a:latin typeface="Times New Roman"/>
              <a:cs typeface="Times New Roman"/>
            </a:endParaRPr>
          </a:p>
          <a:p>
            <a:pPr marR="163195">
              <a:lnSpc>
                <a:spcPts val="2850"/>
              </a:lnSpc>
            </a:pPr>
            <a:r>
              <a:rPr dirty="0" sz="2400" spc="75">
                <a:latin typeface="Times New Roman"/>
                <a:cs typeface="Times New Roman"/>
              </a:rPr>
              <a:t>Q.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Li,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75">
                <a:latin typeface="Times New Roman"/>
                <a:cs typeface="Times New Roman"/>
              </a:rPr>
              <a:t>A.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85">
                <a:latin typeface="Times New Roman"/>
                <a:cs typeface="Times New Roman"/>
              </a:rPr>
              <a:t>Tang,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40">
                <a:latin typeface="Times New Roman"/>
                <a:cs typeface="Times New Roman"/>
              </a:rPr>
              <a:t>“Video </a:t>
            </a:r>
            <a:r>
              <a:rPr dirty="0" sz="2400" spc="75">
                <a:latin typeface="Times New Roman"/>
                <a:cs typeface="Times New Roman"/>
              </a:rPr>
              <a:t>summarization</a:t>
            </a:r>
            <a:r>
              <a:rPr dirty="0" sz="2400" spc="2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via</a:t>
            </a:r>
            <a:r>
              <a:rPr dirty="0" sz="2400" spc="2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knowledge-</a:t>
            </a:r>
            <a:r>
              <a:rPr dirty="0" sz="2400" spc="45">
                <a:latin typeface="Times New Roman"/>
                <a:cs typeface="Times New Roman"/>
              </a:rPr>
              <a:t>aware </a:t>
            </a:r>
            <a:r>
              <a:rPr dirty="0" sz="2400" spc="80">
                <a:latin typeface="Times New Roman"/>
                <a:cs typeface="Times New Roman"/>
              </a:rPr>
              <a:t>multimodal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networks,”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75">
                <a:latin typeface="Times New Roman"/>
                <a:cs typeface="Times New Roman"/>
              </a:rPr>
              <a:t>Inf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100">
                <a:latin typeface="Times New Roman"/>
                <a:cs typeface="Times New Roman"/>
              </a:rPr>
              <a:t>Fus,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vol. </a:t>
            </a:r>
            <a:r>
              <a:rPr dirty="0" sz="2400">
                <a:latin typeface="Times New Roman"/>
                <a:cs typeface="Times New Roman"/>
              </a:rPr>
              <a:t>99,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pp.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191–200,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2024.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74276" y="402322"/>
            <a:ext cx="4159885" cy="8251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35635">
              <a:lnSpc>
                <a:spcPts val="2200"/>
              </a:lnSpc>
            </a:pPr>
            <a:r>
              <a:rPr dirty="0" sz="2400" spc="120" b="1" i="1">
                <a:solidFill>
                  <a:srgbClr val="FFFFFF"/>
                </a:solidFill>
                <a:latin typeface="Times New Roman"/>
                <a:cs typeface="Times New Roman"/>
              </a:rPr>
              <a:t>KEY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40" b="1" i="1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ts val="2850"/>
              </a:lnSpc>
              <a:tabLst>
                <a:tab pos="1828800" algn="l"/>
                <a:tab pos="2984500" algn="l"/>
              </a:tabLst>
            </a:pPr>
            <a:r>
              <a:rPr dirty="0" sz="2400" spc="55">
                <a:latin typeface="Times New Roman"/>
                <a:cs typeface="Times New Roman"/>
              </a:rPr>
              <a:t>Spatial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50">
                <a:latin typeface="Times New Roman"/>
                <a:cs typeface="Times New Roman"/>
              </a:rPr>
              <a:t>&amp;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75">
                <a:latin typeface="Times New Roman"/>
                <a:cs typeface="Times New Roman"/>
              </a:rPr>
              <a:t>temporal </a:t>
            </a:r>
            <a:r>
              <a:rPr dirty="0" sz="2400" spc="65">
                <a:latin typeface="Times New Roman"/>
                <a:cs typeface="Times New Roman"/>
              </a:rPr>
              <a:t>summarization.</a:t>
            </a:r>
            <a:endParaRPr sz="2400">
              <a:latin typeface="Times New Roman"/>
              <a:cs typeface="Times New Roman"/>
            </a:endParaRPr>
          </a:p>
          <a:p>
            <a:pPr indent="76200">
              <a:lnSpc>
                <a:spcPts val="2850"/>
              </a:lnSpc>
              <a:tabLst>
                <a:tab pos="2197100" algn="l"/>
                <a:tab pos="3184525" algn="l"/>
              </a:tabLst>
            </a:pPr>
            <a:r>
              <a:rPr dirty="0" sz="2400" spc="55">
                <a:latin typeface="Times New Roman"/>
                <a:cs typeface="Times New Roman"/>
              </a:rPr>
              <a:t>Optimized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75">
                <a:latin typeface="Times New Roman"/>
                <a:cs typeface="Times New Roman"/>
              </a:rPr>
              <a:t>for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35">
                <a:latin typeface="Times New Roman"/>
                <a:cs typeface="Times New Roman"/>
              </a:rPr>
              <a:t>retrieval. </a:t>
            </a:r>
            <a:r>
              <a:rPr dirty="0" sz="2400" spc="95">
                <a:latin typeface="Times New Roman"/>
                <a:cs typeface="Times New Roman"/>
              </a:rPr>
              <a:t>Automation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50">
                <a:latin typeface="Times New Roman"/>
                <a:cs typeface="Times New Roman"/>
              </a:rPr>
              <a:t>for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70">
                <a:latin typeface="Times New Roman"/>
                <a:cs typeface="Times New Roman"/>
              </a:rPr>
              <a:t>content </a:t>
            </a:r>
            <a:r>
              <a:rPr dirty="0" sz="2400" spc="55">
                <a:latin typeface="Times New Roman"/>
                <a:cs typeface="Times New Roman"/>
              </a:rPr>
              <a:t>creators.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2400">
              <a:latin typeface="Times New Roman"/>
              <a:cs typeface="Times New Roman"/>
            </a:endParaRPr>
          </a:p>
          <a:p>
            <a:pPr marR="170815">
              <a:lnSpc>
                <a:spcPct val="114599"/>
              </a:lnSpc>
            </a:pPr>
            <a:r>
              <a:rPr dirty="0" sz="2400">
                <a:latin typeface="Times New Roman"/>
                <a:cs typeface="Times New Roman"/>
              </a:rPr>
              <a:t>Knowledge-driven</a:t>
            </a:r>
            <a:r>
              <a:rPr dirty="0" sz="2400" spc="60">
                <a:latin typeface="Times New Roman"/>
                <a:cs typeface="Times New Roman"/>
              </a:rPr>
              <a:t>  multimodal </a:t>
            </a:r>
            <a:r>
              <a:rPr dirty="0" sz="2400" spc="35">
                <a:latin typeface="Times New Roman"/>
                <a:cs typeface="Times New Roman"/>
              </a:rPr>
              <a:t>fusion.</a:t>
            </a:r>
            <a:endParaRPr sz="2400">
              <a:latin typeface="Times New Roman"/>
              <a:cs typeface="Times New Roman"/>
            </a:endParaRPr>
          </a:p>
          <a:p>
            <a:pPr marR="491490">
              <a:lnSpc>
                <a:spcPct val="114599"/>
              </a:lnSpc>
            </a:pPr>
            <a:r>
              <a:rPr dirty="0" sz="2400" spc="110">
                <a:latin typeface="Times New Roman"/>
                <a:cs typeface="Times New Roman"/>
              </a:rPr>
              <a:t>Robust</a:t>
            </a:r>
            <a:r>
              <a:rPr dirty="0" sz="2400" spc="2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highlight</a:t>
            </a:r>
            <a:r>
              <a:rPr dirty="0" sz="2400" spc="204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extraction. </a:t>
            </a:r>
            <a:r>
              <a:rPr dirty="0" sz="2400" spc="70">
                <a:latin typeface="Times New Roman"/>
                <a:cs typeface="Times New Roman"/>
              </a:rPr>
              <a:t>Multi-</a:t>
            </a:r>
            <a:r>
              <a:rPr dirty="0" sz="2400" spc="65">
                <a:latin typeface="Times New Roman"/>
                <a:cs typeface="Times New Roman"/>
              </a:rPr>
              <a:t>agent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inputs.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39837" y="402322"/>
            <a:ext cx="3166110" cy="7804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5270">
              <a:lnSpc>
                <a:spcPts val="2200"/>
              </a:lnSpc>
            </a:pPr>
            <a:r>
              <a:rPr dirty="0" sz="2400" spc="80" b="1" i="1">
                <a:solidFill>
                  <a:srgbClr val="FFFFFF"/>
                </a:solidFill>
                <a:latin typeface="Times New Roman"/>
                <a:cs typeface="Times New Roman"/>
              </a:rPr>
              <a:t>GAPS</a:t>
            </a:r>
            <a:r>
              <a:rPr dirty="0" sz="2400" spc="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IDENTIFIED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90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ts val="2850"/>
              </a:lnSpc>
            </a:pPr>
            <a:r>
              <a:rPr dirty="0" sz="2400" spc="90">
                <a:latin typeface="Times New Roman"/>
                <a:cs typeface="Times New Roman"/>
              </a:rPr>
              <a:t>Focus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120">
                <a:latin typeface="Times New Roman"/>
                <a:cs typeface="Times New Roman"/>
              </a:rPr>
              <a:t>on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search,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not </a:t>
            </a:r>
            <a:r>
              <a:rPr dirty="0" sz="2400" spc="85">
                <a:latin typeface="Times New Roman"/>
                <a:cs typeface="Times New Roman"/>
              </a:rPr>
              <a:t>platform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deployment. </a:t>
            </a:r>
            <a:r>
              <a:rPr dirty="0" sz="2400" spc="85">
                <a:latin typeface="Times New Roman"/>
                <a:cs typeface="Times New Roman"/>
              </a:rPr>
              <a:t>Evaluation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120">
                <a:latin typeface="Times New Roman"/>
                <a:cs typeface="Times New Roman"/>
              </a:rPr>
              <a:t>on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85">
                <a:latin typeface="Times New Roman"/>
                <a:cs typeface="Times New Roman"/>
              </a:rPr>
              <a:t>YouTube </a:t>
            </a:r>
            <a:r>
              <a:rPr dirty="0" sz="2400" spc="45">
                <a:latin typeface="Times New Roman"/>
                <a:cs typeface="Times New Roman"/>
              </a:rPr>
              <a:t>only.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2400">
              <a:latin typeface="Times New Roman"/>
              <a:cs typeface="Times New Roman"/>
            </a:endParaRPr>
          </a:p>
          <a:p>
            <a:pPr marR="53975" indent="76200">
              <a:lnSpc>
                <a:spcPts val="2850"/>
              </a:lnSpc>
            </a:pPr>
            <a:r>
              <a:rPr dirty="0" sz="2400" spc="100">
                <a:latin typeface="Times New Roman"/>
                <a:cs typeface="Times New Roman"/>
              </a:rPr>
              <a:t>Computational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30">
                <a:latin typeface="Times New Roman"/>
                <a:cs typeface="Times New Roman"/>
              </a:rPr>
              <a:t>cost. </a:t>
            </a:r>
            <a:r>
              <a:rPr dirty="0" sz="2400" spc="50">
                <a:latin typeface="Times New Roman"/>
                <a:cs typeface="Times New Roman"/>
              </a:rPr>
              <a:t>Sparse</a:t>
            </a:r>
            <a:r>
              <a:rPr dirty="0" sz="2400" spc="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real-</a:t>
            </a:r>
            <a:r>
              <a:rPr dirty="0" sz="2400" spc="50">
                <a:latin typeface="Times New Roman"/>
                <a:cs typeface="Times New Roman"/>
              </a:rPr>
              <a:t>user</a:t>
            </a:r>
            <a:r>
              <a:rPr dirty="0" sz="2400" spc="1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studies.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36927" y="235101"/>
            <a:ext cx="15481300" cy="9817100"/>
            <a:chOff x="1236927" y="235101"/>
            <a:chExt cx="15481300" cy="9817100"/>
          </a:xfrm>
        </p:grpSpPr>
        <p:sp>
          <p:nvSpPr>
            <p:cNvPr id="7" name="object 7"/>
            <p:cNvSpPr/>
            <p:nvPr/>
          </p:nvSpPr>
          <p:spPr>
            <a:xfrm>
              <a:off x="1239304" y="239864"/>
              <a:ext cx="15476855" cy="9807575"/>
            </a:xfrm>
            <a:custGeom>
              <a:avLst/>
              <a:gdLst/>
              <a:ahLst/>
              <a:cxnLst/>
              <a:rect l="l" t="t" r="r" b="b"/>
              <a:pathLst>
                <a:path w="15476855" h="9807575">
                  <a:moveTo>
                    <a:pt x="15476538" y="0"/>
                  </a:moveTo>
                  <a:lnTo>
                    <a:pt x="10988700" y="0"/>
                  </a:lnTo>
                  <a:lnTo>
                    <a:pt x="6123279" y="0"/>
                  </a:lnTo>
                  <a:lnTo>
                    <a:pt x="994384" y="0"/>
                  </a:lnTo>
                  <a:lnTo>
                    <a:pt x="0" y="0"/>
                  </a:lnTo>
                  <a:lnTo>
                    <a:pt x="0" y="9807283"/>
                  </a:lnTo>
                  <a:lnTo>
                    <a:pt x="994384" y="9807283"/>
                  </a:lnTo>
                  <a:lnTo>
                    <a:pt x="6123279" y="9807283"/>
                  </a:lnTo>
                  <a:lnTo>
                    <a:pt x="10988700" y="9807283"/>
                  </a:lnTo>
                  <a:lnTo>
                    <a:pt x="15476538" y="9807283"/>
                  </a:lnTo>
                  <a:lnTo>
                    <a:pt x="154765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236927" y="237482"/>
              <a:ext cx="15481300" cy="9812655"/>
            </a:xfrm>
            <a:custGeom>
              <a:avLst/>
              <a:gdLst/>
              <a:ahLst/>
              <a:cxnLst/>
              <a:rect l="l" t="t" r="r" b="b"/>
              <a:pathLst>
                <a:path w="15481300" h="9812655">
                  <a:moveTo>
                    <a:pt x="2380" y="2380"/>
                  </a:moveTo>
                  <a:lnTo>
                    <a:pt x="2380" y="9809653"/>
                  </a:lnTo>
                </a:path>
                <a:path w="15481300" h="9812655">
                  <a:moveTo>
                    <a:pt x="996768" y="2380"/>
                  </a:moveTo>
                  <a:lnTo>
                    <a:pt x="996768" y="9809653"/>
                  </a:lnTo>
                </a:path>
                <a:path w="15481300" h="9812655">
                  <a:moveTo>
                    <a:pt x="6125665" y="2380"/>
                  </a:moveTo>
                  <a:lnTo>
                    <a:pt x="6125665" y="9809653"/>
                  </a:lnTo>
                </a:path>
                <a:path w="15481300" h="9812655">
                  <a:moveTo>
                    <a:pt x="10991078" y="2380"/>
                  </a:moveTo>
                  <a:lnTo>
                    <a:pt x="10991078" y="9809653"/>
                  </a:lnTo>
                </a:path>
                <a:path w="15481300" h="9812655">
                  <a:moveTo>
                    <a:pt x="15478917" y="2380"/>
                  </a:moveTo>
                  <a:lnTo>
                    <a:pt x="15478917" y="9809653"/>
                  </a:lnTo>
                </a:path>
                <a:path w="15481300" h="9812655">
                  <a:moveTo>
                    <a:pt x="0" y="0"/>
                  </a:moveTo>
                  <a:lnTo>
                    <a:pt x="15481299" y="0"/>
                  </a:lnTo>
                </a:path>
                <a:path w="15481300" h="9812655">
                  <a:moveTo>
                    <a:pt x="0" y="1019174"/>
                  </a:moveTo>
                  <a:lnTo>
                    <a:pt x="15481299" y="1019174"/>
                  </a:lnTo>
                </a:path>
                <a:path w="15481300" h="9812655">
                  <a:moveTo>
                    <a:pt x="0" y="5479755"/>
                  </a:moveTo>
                  <a:lnTo>
                    <a:pt x="15481299" y="5479755"/>
                  </a:lnTo>
                </a:path>
                <a:path w="15481300" h="9812655">
                  <a:moveTo>
                    <a:pt x="0" y="9812034"/>
                  </a:moveTo>
                  <a:lnTo>
                    <a:pt x="15481299" y="9812034"/>
                  </a:lnTo>
                </a:path>
              </a:pathLst>
            </a:custGeom>
            <a:ln w="4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6694348" y="9942555"/>
            <a:ext cx="1506220" cy="3714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Page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fld id="{81D60167-4931-47E6-BA6A-407CBD079E47}" type="slidenum"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6</a:t>
            </a:fld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0049AB"/>
                </a:solidFill>
                <a:latin typeface="Lucida Sans Unicode"/>
                <a:cs typeface="Lucida Sans Unicode"/>
              </a:rPr>
              <a:t>of</a:t>
            </a:r>
            <a:r>
              <a:rPr dirty="0" sz="2000" spc="-130">
                <a:solidFill>
                  <a:srgbClr val="0049AB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70">
                <a:solidFill>
                  <a:srgbClr val="0049AB"/>
                </a:solidFill>
                <a:latin typeface="Lucida Sans Unicode"/>
                <a:cs typeface="Lucida Sans Unicode"/>
              </a:rPr>
              <a:t>19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0859" y="855401"/>
            <a:ext cx="607060" cy="6707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0"/>
              </a:lnSpc>
            </a:pP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REF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400">
              <a:latin typeface="Times New Roman"/>
              <a:cs typeface="Times New Roman"/>
            </a:endParaRPr>
          </a:p>
          <a:p>
            <a:pPr marL="144145">
              <a:lnSpc>
                <a:spcPct val="100000"/>
              </a:lnSpc>
            </a:pPr>
            <a:r>
              <a:rPr dirty="0" sz="2400" spc="-25">
                <a:latin typeface="Times New Roman"/>
                <a:cs typeface="Times New Roman"/>
              </a:rPr>
              <a:t>[5]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2400">
              <a:latin typeface="Times New Roman"/>
              <a:cs typeface="Times New Roman"/>
            </a:endParaRPr>
          </a:p>
          <a:p>
            <a:pPr marL="144145">
              <a:lnSpc>
                <a:spcPct val="100000"/>
              </a:lnSpc>
            </a:pPr>
            <a:r>
              <a:rPr dirty="0" sz="2400" spc="-25">
                <a:latin typeface="Times New Roman"/>
                <a:cs typeface="Times New Roman"/>
              </a:rPr>
              <a:t>[6]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60855" y="855401"/>
            <a:ext cx="4747895" cy="72504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250190">
              <a:lnSpc>
                <a:spcPts val="2200"/>
              </a:lnSpc>
            </a:pPr>
            <a:r>
              <a:rPr dirty="0" sz="2400" spc="65" b="1" i="1">
                <a:solidFill>
                  <a:srgbClr val="FFFFFF"/>
                </a:solidFill>
                <a:latin typeface="Times New Roman"/>
                <a:cs typeface="Times New Roman"/>
              </a:rPr>
              <a:t>TITLE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endParaRPr sz="2400">
              <a:latin typeface="Times New Roman"/>
              <a:cs typeface="Times New Roman"/>
            </a:endParaRPr>
          </a:p>
          <a:p>
            <a:pPr marR="14604">
              <a:lnSpc>
                <a:spcPts val="2850"/>
              </a:lnSpc>
            </a:pPr>
            <a:r>
              <a:rPr dirty="0" sz="2400" spc="75">
                <a:latin typeface="Times New Roman"/>
                <a:cs typeface="Times New Roman"/>
              </a:rPr>
              <a:t>Y.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80">
                <a:latin typeface="Times New Roman"/>
                <a:cs typeface="Times New Roman"/>
              </a:rPr>
              <a:t>Wang,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80">
                <a:latin typeface="Times New Roman"/>
                <a:cs typeface="Times New Roman"/>
              </a:rPr>
              <a:t>J.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Lee,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75">
                <a:latin typeface="Times New Roman"/>
                <a:cs typeface="Times New Roman"/>
              </a:rPr>
              <a:t>“Zero-</a:t>
            </a:r>
            <a:r>
              <a:rPr dirty="0" sz="2400" spc="85">
                <a:latin typeface="Times New Roman"/>
                <a:cs typeface="Times New Roman"/>
              </a:rPr>
              <a:t>shot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scene </a:t>
            </a:r>
            <a:r>
              <a:rPr dirty="0" sz="2400" spc="50">
                <a:latin typeface="Times New Roman"/>
                <a:cs typeface="Times New Roman"/>
              </a:rPr>
              <a:t>change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65">
                <a:latin typeface="Times New Roman"/>
                <a:cs typeface="Times New Roman"/>
              </a:rPr>
              <a:t>detection,”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in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105">
                <a:latin typeface="Times New Roman"/>
                <a:cs typeface="Times New Roman"/>
              </a:rPr>
              <a:t>AAAI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65">
                <a:latin typeface="Times New Roman"/>
                <a:cs typeface="Times New Roman"/>
              </a:rPr>
              <a:t>Conf Artif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Intell,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spc="120">
                <a:latin typeface="Times New Roman"/>
                <a:cs typeface="Times New Roman"/>
              </a:rPr>
              <a:t>ACM,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vol.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39,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no.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3,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pp. </a:t>
            </a:r>
            <a:r>
              <a:rPr dirty="0" sz="2400">
                <a:latin typeface="Times New Roman"/>
                <a:cs typeface="Times New Roman"/>
              </a:rPr>
              <a:t>32253–32260,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2024.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ts val="2850"/>
              </a:lnSpc>
            </a:pPr>
            <a:r>
              <a:rPr dirty="0" sz="2400" spc="80">
                <a:latin typeface="Times New Roman"/>
                <a:cs typeface="Times New Roman"/>
              </a:rPr>
              <a:t>W.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135">
                <a:latin typeface="Times New Roman"/>
                <a:cs typeface="Times New Roman"/>
              </a:rPr>
              <a:t>Fan,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80">
                <a:latin typeface="Times New Roman"/>
                <a:cs typeface="Times New Roman"/>
              </a:rPr>
              <a:t>C.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Liu,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“Scene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40">
                <a:latin typeface="Times New Roman"/>
                <a:cs typeface="Times New Roman"/>
              </a:rPr>
              <a:t>Object </a:t>
            </a:r>
            <a:r>
              <a:rPr dirty="0" sz="2400" spc="75">
                <a:latin typeface="Times New Roman"/>
                <a:cs typeface="Times New Roman"/>
              </a:rPr>
              <a:t>Change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Detection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120">
                <a:latin typeface="Times New Roman"/>
                <a:cs typeface="Times New Roman"/>
              </a:rPr>
              <a:t>and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65">
                <a:latin typeface="Times New Roman"/>
                <a:cs typeface="Times New Roman"/>
              </a:rPr>
              <a:t>Fine-</a:t>
            </a:r>
            <a:r>
              <a:rPr dirty="0" sz="2400" spc="85">
                <a:latin typeface="Times New Roman"/>
                <a:cs typeface="Times New Roman"/>
              </a:rPr>
              <a:t>Grained </a:t>
            </a:r>
            <a:r>
              <a:rPr dirty="0" sz="2400" spc="80">
                <a:latin typeface="Times New Roman"/>
                <a:cs typeface="Times New Roman"/>
              </a:rPr>
              <a:t>Target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Recognition,”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150">
                <a:latin typeface="Times New Roman"/>
                <a:cs typeface="Times New Roman"/>
              </a:rPr>
              <a:t>ACM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140">
                <a:latin typeface="Times New Roman"/>
                <a:cs typeface="Times New Roman"/>
              </a:rPr>
              <a:t>TMM, </a:t>
            </a:r>
            <a:r>
              <a:rPr dirty="0" sz="2400">
                <a:latin typeface="Times New Roman"/>
                <a:cs typeface="Times New Roman"/>
              </a:rPr>
              <a:t>vol.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13,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no.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2,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pp.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1012–1024,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2024.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64549" y="855401"/>
            <a:ext cx="4023995" cy="7070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37540">
              <a:lnSpc>
                <a:spcPts val="2200"/>
              </a:lnSpc>
            </a:pPr>
            <a:r>
              <a:rPr dirty="0" sz="2400" spc="120" b="1" i="1">
                <a:solidFill>
                  <a:srgbClr val="FFFFFF"/>
                </a:solidFill>
                <a:latin typeface="Times New Roman"/>
                <a:cs typeface="Times New Roman"/>
              </a:rPr>
              <a:t>KEY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40" b="1" i="1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400">
              <a:latin typeface="Times New Roman"/>
              <a:cs typeface="Times New Roman"/>
            </a:endParaRPr>
          </a:p>
          <a:p>
            <a:pPr marR="450215">
              <a:lnSpc>
                <a:spcPts val="2850"/>
              </a:lnSpc>
            </a:pPr>
            <a:r>
              <a:rPr dirty="0" sz="2400" spc="110">
                <a:latin typeface="Times New Roman"/>
                <a:cs typeface="Times New Roman"/>
              </a:rPr>
              <a:t>No-</a:t>
            </a:r>
            <a:r>
              <a:rPr dirty="0" sz="2400" spc="70">
                <a:latin typeface="Times New Roman"/>
                <a:cs typeface="Times New Roman"/>
              </a:rPr>
              <a:t>training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35">
                <a:latin typeface="Times New Roman"/>
                <a:cs typeface="Times New Roman"/>
              </a:rPr>
              <a:t>needed. </a:t>
            </a:r>
            <a:r>
              <a:rPr dirty="0" sz="2400">
                <a:latin typeface="Times New Roman"/>
                <a:cs typeface="Times New Roman"/>
              </a:rPr>
              <a:t>Effective</a:t>
            </a:r>
            <a:r>
              <a:rPr dirty="0" sz="2400" spc="85">
                <a:latin typeface="Times New Roman"/>
                <a:cs typeface="Times New Roman"/>
              </a:rPr>
              <a:t> </a:t>
            </a:r>
            <a:r>
              <a:rPr dirty="0" sz="2400" spc="105">
                <a:latin typeface="Times New Roman"/>
                <a:cs typeface="Times New Roman"/>
              </a:rPr>
              <a:t>boundary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finding. </a:t>
            </a:r>
            <a:r>
              <a:rPr dirty="0" sz="2400" spc="100">
                <a:latin typeface="Times New Roman"/>
                <a:cs typeface="Times New Roman"/>
              </a:rPr>
              <a:t>Feature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differencing.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ts val="2850"/>
              </a:lnSpc>
            </a:pPr>
            <a:r>
              <a:rPr dirty="0" sz="2400">
                <a:latin typeface="Times New Roman"/>
                <a:cs typeface="Times New Roman"/>
              </a:rPr>
              <a:t>Pixel-level</a:t>
            </a:r>
            <a:r>
              <a:rPr dirty="0" sz="2400" spc="1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object/scene</a:t>
            </a:r>
            <a:r>
              <a:rPr dirty="0" sz="2400" spc="170">
                <a:latin typeface="Times New Roman"/>
                <a:cs typeface="Times New Roman"/>
              </a:rPr>
              <a:t> </a:t>
            </a:r>
            <a:r>
              <a:rPr dirty="0" sz="2400" spc="40">
                <a:latin typeface="Times New Roman"/>
                <a:cs typeface="Times New Roman"/>
              </a:rPr>
              <a:t>change. </a:t>
            </a:r>
            <a:r>
              <a:rPr dirty="0" sz="2400" spc="80">
                <a:latin typeface="Times New Roman"/>
                <a:cs typeface="Times New Roman"/>
              </a:rPr>
              <a:t>High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precision.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ts val="2760"/>
              </a:lnSpc>
            </a:pPr>
            <a:r>
              <a:rPr dirty="0" sz="2400" spc="65">
                <a:latin typeface="Times New Roman"/>
                <a:cs typeface="Times New Roman"/>
              </a:rPr>
              <a:t>Fine-</a:t>
            </a:r>
            <a:r>
              <a:rPr dirty="0" sz="2400" spc="60">
                <a:latin typeface="Times New Roman"/>
                <a:cs typeface="Times New Roman"/>
              </a:rPr>
              <a:t>grained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segmentation.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34148" y="855401"/>
            <a:ext cx="3635375" cy="6917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7175">
              <a:lnSpc>
                <a:spcPts val="2200"/>
              </a:lnSpc>
            </a:pPr>
            <a:r>
              <a:rPr dirty="0" sz="2400" spc="80" b="1" i="1">
                <a:solidFill>
                  <a:srgbClr val="FFFFFF"/>
                </a:solidFill>
                <a:latin typeface="Times New Roman"/>
                <a:cs typeface="Times New Roman"/>
              </a:rPr>
              <a:t>GAPS</a:t>
            </a:r>
            <a:r>
              <a:rPr dirty="0" sz="2400" spc="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IDENTIFIED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70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14599"/>
              </a:lnSpc>
            </a:pPr>
            <a:r>
              <a:rPr dirty="0" sz="2400" spc="120">
                <a:latin typeface="Times New Roman"/>
                <a:cs typeface="Times New Roman"/>
              </a:rPr>
              <a:t>May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miss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subtle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60">
                <a:latin typeface="Times New Roman"/>
                <a:cs typeface="Times New Roman"/>
              </a:rPr>
              <a:t>transitions. Limited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evaluation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120">
                <a:latin typeface="Times New Roman"/>
                <a:cs typeface="Times New Roman"/>
              </a:rPr>
              <a:t>on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30">
                <a:latin typeface="Times New Roman"/>
                <a:cs typeface="Times New Roman"/>
              </a:rPr>
              <a:t>user </a:t>
            </a:r>
            <a:r>
              <a:rPr dirty="0" sz="2400" spc="-10">
                <a:latin typeface="Times New Roman"/>
                <a:cs typeface="Times New Roman"/>
              </a:rPr>
              <a:t>videos.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2400">
              <a:latin typeface="Times New Roman"/>
              <a:cs typeface="Times New Roman"/>
            </a:endParaRPr>
          </a:p>
          <a:p>
            <a:pPr marR="6985">
              <a:lnSpc>
                <a:spcPct val="114599"/>
              </a:lnSpc>
            </a:pPr>
            <a:r>
              <a:rPr dirty="0" sz="2400" spc="85">
                <a:latin typeface="Times New Roman"/>
                <a:cs typeface="Times New Roman"/>
              </a:rPr>
              <a:t>Computationally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expensive. </a:t>
            </a:r>
            <a:r>
              <a:rPr dirty="0" sz="2400" spc="155">
                <a:latin typeface="Times New Roman"/>
                <a:cs typeface="Times New Roman"/>
              </a:rPr>
              <a:t>Not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robust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125">
                <a:latin typeface="Times New Roman"/>
                <a:cs typeface="Times New Roman"/>
              </a:rPr>
              <a:t>to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occlusion.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58900" y="678656"/>
            <a:ext cx="15557500" cy="8877300"/>
            <a:chOff x="1358900" y="678656"/>
            <a:chExt cx="15557500" cy="8877300"/>
          </a:xfrm>
        </p:grpSpPr>
        <p:sp>
          <p:nvSpPr>
            <p:cNvPr id="7" name="object 7"/>
            <p:cNvSpPr/>
            <p:nvPr/>
          </p:nvSpPr>
          <p:spPr>
            <a:xfrm>
              <a:off x="1361275" y="683424"/>
              <a:ext cx="15553055" cy="8867775"/>
            </a:xfrm>
            <a:custGeom>
              <a:avLst/>
              <a:gdLst/>
              <a:ahLst/>
              <a:cxnLst/>
              <a:rect l="l" t="t" r="r" b="b"/>
              <a:pathLst>
                <a:path w="15553055" h="8867775">
                  <a:moveTo>
                    <a:pt x="15552738" y="0"/>
                  </a:moveTo>
                  <a:lnTo>
                    <a:pt x="11061040" y="0"/>
                  </a:lnTo>
                  <a:lnTo>
                    <a:pt x="6191440" y="0"/>
                  </a:lnTo>
                  <a:lnTo>
                    <a:pt x="1005814" y="0"/>
                  </a:lnTo>
                  <a:lnTo>
                    <a:pt x="0" y="0"/>
                  </a:lnTo>
                  <a:lnTo>
                    <a:pt x="0" y="8867775"/>
                  </a:lnTo>
                  <a:lnTo>
                    <a:pt x="1005814" y="8867775"/>
                  </a:lnTo>
                  <a:lnTo>
                    <a:pt x="6191440" y="8867775"/>
                  </a:lnTo>
                  <a:lnTo>
                    <a:pt x="11061040" y="8867775"/>
                  </a:lnTo>
                  <a:lnTo>
                    <a:pt x="15552738" y="8867775"/>
                  </a:lnTo>
                  <a:lnTo>
                    <a:pt x="155527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58900" y="681037"/>
              <a:ext cx="15557500" cy="8872855"/>
            </a:xfrm>
            <a:custGeom>
              <a:avLst/>
              <a:gdLst/>
              <a:ahLst/>
              <a:cxnLst/>
              <a:rect l="l" t="t" r="r" b="b"/>
              <a:pathLst>
                <a:path w="15557500" h="8872855">
                  <a:moveTo>
                    <a:pt x="2380" y="2380"/>
                  </a:moveTo>
                  <a:lnTo>
                    <a:pt x="2380" y="8870156"/>
                  </a:lnTo>
                </a:path>
                <a:path w="15557500" h="8872855">
                  <a:moveTo>
                    <a:pt x="1008193" y="2380"/>
                  </a:moveTo>
                  <a:lnTo>
                    <a:pt x="1008193" y="8870156"/>
                  </a:lnTo>
                </a:path>
                <a:path w="15557500" h="8872855">
                  <a:moveTo>
                    <a:pt x="6193817" y="2380"/>
                  </a:moveTo>
                  <a:lnTo>
                    <a:pt x="6193817" y="8870156"/>
                  </a:lnTo>
                </a:path>
                <a:path w="15557500" h="8872855">
                  <a:moveTo>
                    <a:pt x="11063416" y="2380"/>
                  </a:moveTo>
                  <a:lnTo>
                    <a:pt x="11063416" y="8870156"/>
                  </a:lnTo>
                </a:path>
                <a:path w="15557500" h="8872855">
                  <a:moveTo>
                    <a:pt x="15555117" y="2380"/>
                  </a:moveTo>
                  <a:lnTo>
                    <a:pt x="15555117" y="8870156"/>
                  </a:lnTo>
                </a:path>
                <a:path w="15557500" h="8872855">
                  <a:moveTo>
                    <a:pt x="0" y="0"/>
                  </a:moveTo>
                  <a:lnTo>
                    <a:pt x="15557499" y="0"/>
                  </a:lnTo>
                </a:path>
                <a:path w="15557500" h="8872855">
                  <a:moveTo>
                    <a:pt x="0" y="1033146"/>
                  </a:moveTo>
                  <a:lnTo>
                    <a:pt x="15557499" y="1033146"/>
                  </a:lnTo>
                </a:path>
                <a:path w="15557500" h="8872855">
                  <a:moveTo>
                    <a:pt x="0" y="4611998"/>
                  </a:moveTo>
                  <a:lnTo>
                    <a:pt x="15557499" y="4611998"/>
                  </a:lnTo>
                </a:path>
                <a:path w="15557500" h="8872855">
                  <a:moveTo>
                    <a:pt x="0" y="8872537"/>
                  </a:moveTo>
                  <a:lnTo>
                    <a:pt x="15557499" y="8872537"/>
                  </a:lnTo>
                </a:path>
              </a:pathLst>
            </a:custGeom>
            <a:ln w="4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dirty="0" spc="-130"/>
              <a:t> </a:t>
            </a:r>
            <a:fld id="{81D60167-4931-47E6-BA6A-407CBD079E47}" type="slidenum">
              <a:rPr dirty="0" spc="-210"/>
              <a:t>10</a:t>
            </a:fld>
            <a:r>
              <a:rPr dirty="0" spc="-12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9554" y="630690"/>
            <a:ext cx="607060" cy="74396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0"/>
              </a:lnSpc>
            </a:pP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REF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400">
              <a:latin typeface="Times New Roman"/>
              <a:cs typeface="Times New Roman"/>
            </a:endParaRPr>
          </a:p>
          <a:p>
            <a:pPr marL="144145">
              <a:lnSpc>
                <a:spcPct val="100000"/>
              </a:lnSpc>
            </a:pPr>
            <a:r>
              <a:rPr dirty="0" sz="2400" spc="-25">
                <a:latin typeface="Times New Roman"/>
                <a:cs typeface="Times New Roman"/>
              </a:rPr>
              <a:t>[7]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400">
              <a:latin typeface="Times New Roman"/>
              <a:cs typeface="Times New Roman"/>
            </a:endParaRPr>
          </a:p>
          <a:p>
            <a:pPr marL="144145">
              <a:lnSpc>
                <a:spcPct val="100000"/>
              </a:lnSpc>
            </a:pPr>
            <a:r>
              <a:rPr dirty="0" sz="2400" spc="-25">
                <a:latin typeface="Times New Roman"/>
                <a:cs typeface="Times New Roman"/>
              </a:rPr>
              <a:t>[8]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38441" y="630690"/>
            <a:ext cx="4704080" cy="79825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210820">
              <a:lnSpc>
                <a:spcPts val="2200"/>
              </a:lnSpc>
            </a:pPr>
            <a:r>
              <a:rPr dirty="0" sz="2400" spc="65" b="1" i="1">
                <a:solidFill>
                  <a:srgbClr val="FFFFFF"/>
                </a:solidFill>
                <a:latin typeface="Times New Roman"/>
                <a:cs typeface="Times New Roman"/>
              </a:rPr>
              <a:t>TITLE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14599"/>
              </a:lnSpc>
            </a:pPr>
            <a:r>
              <a:rPr dirty="0" sz="2400" spc="75">
                <a:latin typeface="Times New Roman"/>
                <a:cs typeface="Times New Roman"/>
              </a:rPr>
              <a:t>C.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80">
                <a:latin typeface="Times New Roman"/>
                <a:cs typeface="Times New Roman"/>
              </a:rPr>
              <a:t>Chang,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85">
                <a:latin typeface="Times New Roman"/>
                <a:cs typeface="Times New Roman"/>
              </a:rPr>
              <a:t>Z.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65">
                <a:latin typeface="Times New Roman"/>
                <a:cs typeface="Times New Roman"/>
              </a:rPr>
              <a:t>Liu,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“Advances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25">
                <a:latin typeface="Times New Roman"/>
                <a:cs typeface="Times New Roman"/>
              </a:rPr>
              <a:t>in </a:t>
            </a:r>
            <a:r>
              <a:rPr dirty="0" sz="2400">
                <a:latin typeface="Times New Roman"/>
                <a:cs typeface="Times New Roman"/>
              </a:rPr>
              <a:t>Video</a:t>
            </a:r>
            <a:r>
              <a:rPr dirty="0" sz="2400" spc="80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Emotion</a:t>
            </a:r>
            <a:r>
              <a:rPr dirty="0" sz="2400" spc="85">
                <a:latin typeface="Times New Roman"/>
                <a:cs typeface="Times New Roman"/>
              </a:rPr>
              <a:t> </a:t>
            </a:r>
            <a:r>
              <a:rPr dirty="0" sz="2400" spc="45">
                <a:latin typeface="Times New Roman"/>
                <a:cs typeface="Times New Roman"/>
              </a:rPr>
              <a:t>Recognition: </a:t>
            </a:r>
            <a:r>
              <a:rPr dirty="0" sz="2400">
                <a:latin typeface="Times New Roman"/>
                <a:cs typeface="Times New Roman"/>
              </a:rPr>
              <a:t>Challenges</a:t>
            </a:r>
            <a:r>
              <a:rPr dirty="0" sz="2400" spc="114">
                <a:latin typeface="Times New Roman"/>
                <a:cs typeface="Times New Roman"/>
              </a:rPr>
              <a:t> and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Progress,”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 spc="105">
                <a:latin typeface="Times New Roman"/>
                <a:cs typeface="Times New Roman"/>
              </a:rPr>
              <a:t>IEEE </a:t>
            </a:r>
            <a:r>
              <a:rPr dirty="0" sz="2400" spc="90">
                <a:latin typeface="Times New Roman"/>
                <a:cs typeface="Times New Roman"/>
              </a:rPr>
              <a:t>Trans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Affect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spc="100">
                <a:latin typeface="Times New Roman"/>
                <a:cs typeface="Times New Roman"/>
              </a:rPr>
              <a:t>Comput,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vol.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16,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spc="90">
                <a:latin typeface="Times New Roman"/>
                <a:cs typeface="Times New Roman"/>
              </a:rPr>
              <a:t>no.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4,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dirty="0" sz="2400" spc="90">
                <a:latin typeface="Times New Roman"/>
                <a:cs typeface="Times New Roman"/>
              </a:rPr>
              <a:t>pp.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360–</a:t>
            </a:r>
            <a:r>
              <a:rPr dirty="0" sz="2400">
                <a:latin typeface="Times New Roman"/>
                <a:cs typeface="Times New Roman"/>
              </a:rPr>
              <a:t>373,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2025.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2400">
              <a:latin typeface="Times New Roman"/>
              <a:cs typeface="Times New Roman"/>
            </a:endParaRPr>
          </a:p>
          <a:p>
            <a:pPr marR="231775">
              <a:lnSpc>
                <a:spcPts val="2850"/>
              </a:lnSpc>
            </a:pPr>
            <a:r>
              <a:rPr dirty="0" sz="2400" spc="150">
                <a:latin typeface="Times New Roman"/>
                <a:cs typeface="Times New Roman"/>
              </a:rPr>
              <a:t>F.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Silva,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140">
                <a:latin typeface="Times New Roman"/>
                <a:cs typeface="Times New Roman"/>
              </a:rPr>
              <a:t>R.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130">
                <a:latin typeface="Times New Roman"/>
                <a:cs typeface="Times New Roman"/>
              </a:rPr>
              <a:t>Rao,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85">
                <a:latin typeface="Times New Roman"/>
                <a:cs typeface="Times New Roman"/>
              </a:rPr>
              <a:t>“Multimodal </a:t>
            </a:r>
            <a:r>
              <a:rPr dirty="0" sz="2400" spc="100">
                <a:latin typeface="Times New Roman"/>
                <a:cs typeface="Times New Roman"/>
              </a:rPr>
              <a:t>Emotion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Recognition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with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Deep </a:t>
            </a:r>
            <a:r>
              <a:rPr dirty="0" sz="2400" spc="75">
                <a:latin typeface="Times New Roman"/>
                <a:cs typeface="Times New Roman"/>
              </a:rPr>
              <a:t>Learning,”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spc="75">
                <a:latin typeface="Times New Roman"/>
                <a:cs typeface="Times New Roman"/>
              </a:rPr>
              <a:t>Inf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spc="90">
                <a:latin typeface="Times New Roman"/>
                <a:cs typeface="Times New Roman"/>
              </a:rPr>
              <a:t>Fusion,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vol.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79,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pp. </a:t>
            </a:r>
            <a:r>
              <a:rPr dirty="0" sz="2400">
                <a:latin typeface="Times New Roman"/>
                <a:cs typeface="Times New Roman"/>
              </a:rPr>
              <a:t>33–44,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2024.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9494" y="630690"/>
            <a:ext cx="3791585" cy="79825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35635">
              <a:lnSpc>
                <a:spcPts val="2200"/>
              </a:lnSpc>
            </a:pPr>
            <a:r>
              <a:rPr dirty="0" sz="2400" spc="120" b="1" i="1">
                <a:solidFill>
                  <a:srgbClr val="FFFFFF"/>
                </a:solidFill>
                <a:latin typeface="Times New Roman"/>
                <a:cs typeface="Times New Roman"/>
              </a:rPr>
              <a:t>KEY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40" b="1" i="1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ts val="2850"/>
              </a:lnSpc>
            </a:pPr>
            <a:r>
              <a:rPr dirty="0" sz="2400" spc="90">
                <a:latin typeface="Times New Roman"/>
                <a:cs typeface="Times New Roman"/>
              </a:rPr>
              <a:t>Multimodal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40">
                <a:latin typeface="Times New Roman"/>
                <a:cs typeface="Times New Roman"/>
              </a:rPr>
              <a:t>fusion. </a:t>
            </a:r>
            <a:r>
              <a:rPr dirty="0" sz="2400" spc="85">
                <a:latin typeface="Times New Roman"/>
                <a:cs typeface="Times New Roman"/>
              </a:rPr>
              <a:t>Temporal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80">
                <a:latin typeface="Times New Roman"/>
                <a:cs typeface="Times New Roman"/>
              </a:rPr>
              <a:t>emotion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40">
                <a:latin typeface="Times New Roman"/>
                <a:cs typeface="Times New Roman"/>
              </a:rPr>
              <a:t>modeling. </a:t>
            </a:r>
            <a:r>
              <a:rPr dirty="0" sz="2400" spc="75">
                <a:latin typeface="Times New Roman"/>
                <a:cs typeface="Times New Roman"/>
              </a:rPr>
              <a:t>Robustness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65">
                <a:latin typeface="Times New Roman"/>
                <a:cs typeface="Times New Roman"/>
              </a:rPr>
              <a:t>benchmarks.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14"/>
              </a:spcBef>
            </a:pPr>
            <a:endParaRPr sz="2400">
              <a:latin typeface="Times New Roman"/>
              <a:cs typeface="Times New Roman"/>
            </a:endParaRPr>
          </a:p>
          <a:p>
            <a:pPr marR="617855">
              <a:lnSpc>
                <a:spcPts val="2850"/>
              </a:lnSpc>
            </a:pPr>
            <a:r>
              <a:rPr dirty="0" sz="2400" spc="75">
                <a:latin typeface="Times New Roman"/>
                <a:cs typeface="Times New Roman"/>
              </a:rPr>
              <a:t>Deep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learning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fusion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for </a:t>
            </a:r>
            <a:r>
              <a:rPr dirty="0" sz="2400" spc="45">
                <a:latin typeface="Times New Roman"/>
                <a:cs typeface="Times New Roman"/>
              </a:rPr>
              <a:t>video/audio/text.</a:t>
            </a:r>
            <a:endParaRPr sz="2400">
              <a:latin typeface="Times New Roman"/>
              <a:cs typeface="Times New Roman"/>
            </a:endParaRPr>
          </a:p>
          <a:p>
            <a:pPr marR="805180">
              <a:lnSpc>
                <a:spcPts val="2850"/>
              </a:lnSpc>
            </a:pPr>
            <a:r>
              <a:rPr dirty="0" sz="2400" spc="50">
                <a:latin typeface="Times New Roman"/>
                <a:cs typeface="Times New Roman"/>
              </a:rPr>
              <a:t>Cross-</a:t>
            </a:r>
            <a:r>
              <a:rPr dirty="0" sz="2400" spc="90">
                <a:latin typeface="Times New Roman"/>
                <a:cs typeface="Times New Roman"/>
              </a:rPr>
              <a:t>modal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signals. </a:t>
            </a:r>
            <a:r>
              <a:rPr dirty="0" sz="2400" spc="114">
                <a:latin typeface="Times New Roman"/>
                <a:cs typeface="Times New Roman"/>
              </a:rPr>
              <a:t>Modular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45">
                <a:latin typeface="Times New Roman"/>
                <a:cs typeface="Times New Roman"/>
              </a:rPr>
              <a:t>architectures.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24967" y="630690"/>
            <a:ext cx="3133090" cy="78587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5270">
              <a:lnSpc>
                <a:spcPts val="2200"/>
              </a:lnSpc>
            </a:pPr>
            <a:r>
              <a:rPr dirty="0" sz="2400" spc="80" b="1" i="1">
                <a:solidFill>
                  <a:srgbClr val="FFFFFF"/>
                </a:solidFill>
                <a:latin typeface="Times New Roman"/>
                <a:cs typeface="Times New Roman"/>
              </a:rPr>
              <a:t>GAPS</a:t>
            </a:r>
            <a:r>
              <a:rPr dirty="0" sz="2400" spc="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IDENTIFIED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75"/>
              </a:spcBef>
            </a:pPr>
            <a:endParaRPr sz="2400">
              <a:latin typeface="Times New Roman"/>
              <a:cs typeface="Times New Roman"/>
            </a:endParaRPr>
          </a:p>
          <a:p>
            <a:pPr marR="505459">
              <a:lnSpc>
                <a:spcPts val="2850"/>
              </a:lnSpc>
            </a:pPr>
            <a:r>
              <a:rPr dirty="0" sz="2400" spc="114">
                <a:latin typeface="Times New Roman"/>
                <a:cs typeface="Times New Roman"/>
              </a:rPr>
              <a:t>Most</a:t>
            </a:r>
            <a:r>
              <a:rPr dirty="0" sz="2400" spc="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tests</a:t>
            </a:r>
            <a:r>
              <a:rPr dirty="0" sz="2400" spc="110">
                <a:latin typeface="Times New Roman"/>
                <a:cs typeface="Times New Roman"/>
              </a:rPr>
              <a:t> </a:t>
            </a:r>
            <a:r>
              <a:rPr dirty="0" sz="2400" spc="40">
                <a:latin typeface="Times New Roman"/>
                <a:cs typeface="Times New Roman"/>
              </a:rPr>
              <a:t>academic </a:t>
            </a:r>
            <a:r>
              <a:rPr dirty="0" sz="2400" spc="55">
                <a:latin typeface="Times New Roman"/>
                <a:cs typeface="Times New Roman"/>
              </a:rPr>
              <a:t>datasets.</a:t>
            </a:r>
            <a:endParaRPr sz="2400">
              <a:latin typeface="Times New Roman"/>
              <a:cs typeface="Times New Roman"/>
            </a:endParaRPr>
          </a:p>
          <a:p>
            <a:pPr marR="128270">
              <a:lnSpc>
                <a:spcPts val="2850"/>
              </a:lnSpc>
            </a:pPr>
            <a:r>
              <a:rPr dirty="0" sz="2400" spc="60">
                <a:latin typeface="Times New Roman"/>
                <a:cs typeface="Times New Roman"/>
              </a:rPr>
              <a:t>Limited</a:t>
            </a:r>
            <a:r>
              <a:rPr dirty="0" sz="2400" spc="2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cross-</a:t>
            </a:r>
            <a:r>
              <a:rPr dirty="0" sz="2400" spc="75">
                <a:latin typeface="Times New Roman"/>
                <a:cs typeface="Times New Roman"/>
              </a:rPr>
              <a:t>platform </a:t>
            </a:r>
            <a:r>
              <a:rPr dirty="0" sz="2400" spc="55">
                <a:latin typeface="Times New Roman"/>
                <a:cs typeface="Times New Roman"/>
              </a:rPr>
              <a:t>evaluation.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14599"/>
              </a:lnSpc>
            </a:pPr>
            <a:r>
              <a:rPr dirty="0" sz="2400" spc="95">
                <a:latin typeface="Times New Roman"/>
                <a:cs typeface="Times New Roman"/>
              </a:rPr>
              <a:t>Dataset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40">
                <a:latin typeface="Times New Roman"/>
                <a:cs typeface="Times New Roman"/>
              </a:rPr>
              <a:t>limitations.</a:t>
            </a:r>
            <a:r>
              <a:rPr dirty="0" sz="2400" spc="600">
                <a:latin typeface="Times New Roman"/>
                <a:cs typeface="Times New Roman"/>
              </a:rPr>
              <a:t> </a:t>
            </a:r>
            <a:r>
              <a:rPr dirty="0" sz="2400" spc="155">
                <a:latin typeface="Times New Roman"/>
                <a:cs typeface="Times New Roman"/>
              </a:rPr>
              <a:t>Not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tested </a:t>
            </a:r>
            <a:r>
              <a:rPr dirty="0" sz="2400" spc="70">
                <a:latin typeface="Times New Roman"/>
                <a:cs typeface="Times New Roman"/>
              </a:rPr>
              <a:t>for </a:t>
            </a:r>
            <a:r>
              <a:rPr dirty="0" sz="2400" spc="60">
                <a:latin typeface="Times New Roman"/>
                <a:cs typeface="Times New Roman"/>
              </a:rPr>
              <a:t>platform-</a:t>
            </a:r>
            <a:r>
              <a:rPr dirty="0" sz="2400">
                <a:latin typeface="Times New Roman"/>
                <a:cs typeface="Times New Roman"/>
              </a:rPr>
              <a:t>specific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optimization.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58900" y="444420"/>
            <a:ext cx="15544800" cy="9613900"/>
            <a:chOff x="1358900" y="444420"/>
            <a:chExt cx="15544800" cy="9613900"/>
          </a:xfrm>
        </p:grpSpPr>
        <p:sp>
          <p:nvSpPr>
            <p:cNvPr id="7" name="object 7"/>
            <p:cNvSpPr/>
            <p:nvPr/>
          </p:nvSpPr>
          <p:spPr>
            <a:xfrm>
              <a:off x="1361275" y="449185"/>
              <a:ext cx="15540355" cy="9604375"/>
            </a:xfrm>
            <a:custGeom>
              <a:avLst/>
              <a:gdLst/>
              <a:ahLst/>
              <a:cxnLst/>
              <a:rect l="l" t="t" r="r" b="b"/>
              <a:pathLst>
                <a:path w="15540355" h="9604375">
                  <a:moveTo>
                    <a:pt x="15540038" y="0"/>
                  </a:moveTo>
                  <a:lnTo>
                    <a:pt x="11052010" y="0"/>
                  </a:lnTo>
                  <a:lnTo>
                    <a:pt x="6186386" y="0"/>
                  </a:lnTo>
                  <a:lnTo>
                    <a:pt x="1083398" y="0"/>
                  </a:lnTo>
                  <a:lnTo>
                    <a:pt x="0" y="0"/>
                  </a:lnTo>
                  <a:lnTo>
                    <a:pt x="0" y="9604375"/>
                  </a:lnTo>
                  <a:lnTo>
                    <a:pt x="1083398" y="9604375"/>
                  </a:lnTo>
                  <a:lnTo>
                    <a:pt x="6186386" y="9604375"/>
                  </a:lnTo>
                  <a:lnTo>
                    <a:pt x="11052010" y="9604375"/>
                  </a:lnTo>
                  <a:lnTo>
                    <a:pt x="15540038" y="9604375"/>
                  </a:lnTo>
                  <a:lnTo>
                    <a:pt x="15540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58900" y="446801"/>
              <a:ext cx="15544800" cy="9609455"/>
            </a:xfrm>
            <a:custGeom>
              <a:avLst/>
              <a:gdLst/>
              <a:ahLst/>
              <a:cxnLst/>
              <a:rect l="l" t="t" r="r" b="b"/>
              <a:pathLst>
                <a:path w="15544800" h="9609455">
                  <a:moveTo>
                    <a:pt x="2380" y="2380"/>
                  </a:moveTo>
                  <a:lnTo>
                    <a:pt x="2380" y="9606756"/>
                  </a:lnTo>
                </a:path>
                <a:path w="15544800" h="9609455">
                  <a:moveTo>
                    <a:pt x="1085780" y="2380"/>
                  </a:moveTo>
                  <a:lnTo>
                    <a:pt x="1085780" y="9606756"/>
                  </a:lnTo>
                </a:path>
                <a:path w="15544800" h="9609455">
                  <a:moveTo>
                    <a:pt x="6188761" y="2380"/>
                  </a:moveTo>
                  <a:lnTo>
                    <a:pt x="6188761" y="9606756"/>
                  </a:lnTo>
                </a:path>
                <a:path w="15544800" h="9609455">
                  <a:moveTo>
                    <a:pt x="11054384" y="2380"/>
                  </a:moveTo>
                  <a:lnTo>
                    <a:pt x="11054384" y="9606756"/>
                  </a:lnTo>
                </a:path>
                <a:path w="15544800" h="9609455">
                  <a:moveTo>
                    <a:pt x="15542417" y="2380"/>
                  </a:moveTo>
                  <a:lnTo>
                    <a:pt x="15542417" y="9606756"/>
                  </a:lnTo>
                </a:path>
                <a:path w="15544800" h="9609455">
                  <a:moveTo>
                    <a:pt x="0" y="0"/>
                  </a:moveTo>
                  <a:lnTo>
                    <a:pt x="15544798" y="0"/>
                  </a:lnTo>
                </a:path>
                <a:path w="15544800" h="9609455">
                  <a:moveTo>
                    <a:pt x="0" y="1045945"/>
                  </a:moveTo>
                  <a:lnTo>
                    <a:pt x="15544798" y="1045945"/>
                  </a:lnTo>
                </a:path>
                <a:path w="15544800" h="9609455">
                  <a:moveTo>
                    <a:pt x="0" y="5343941"/>
                  </a:moveTo>
                  <a:lnTo>
                    <a:pt x="15544798" y="5343941"/>
                  </a:lnTo>
                </a:path>
                <a:path w="15544800" h="9609455">
                  <a:moveTo>
                    <a:pt x="0" y="9609137"/>
                  </a:moveTo>
                  <a:lnTo>
                    <a:pt x="15544798" y="9609137"/>
                  </a:lnTo>
                </a:path>
              </a:pathLst>
            </a:custGeom>
            <a:ln w="4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dirty="0" spc="-130"/>
              <a:t> </a:t>
            </a:r>
            <a:fld id="{81D60167-4931-47E6-BA6A-407CBD079E47}" type="slidenum">
              <a:rPr dirty="0" spc="-210"/>
              <a:t>10</a:t>
            </a:fld>
            <a:r>
              <a:rPr dirty="0" spc="-12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8627" y="627673"/>
            <a:ext cx="607060" cy="73120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0"/>
              </a:lnSpc>
            </a:pP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REF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400">
              <a:latin typeface="Times New Roman"/>
              <a:cs typeface="Times New Roman"/>
            </a:endParaRPr>
          </a:p>
          <a:p>
            <a:pPr marL="144145">
              <a:lnSpc>
                <a:spcPct val="100000"/>
              </a:lnSpc>
            </a:pPr>
            <a:r>
              <a:rPr dirty="0" sz="2400" spc="-25">
                <a:latin typeface="Times New Roman"/>
                <a:cs typeface="Times New Roman"/>
              </a:rPr>
              <a:t>[9]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40"/>
              </a:spcBef>
            </a:pPr>
            <a:endParaRPr sz="240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dirty="0" sz="2400" spc="-20">
                <a:latin typeface="Times New Roman"/>
                <a:cs typeface="Times New Roman"/>
              </a:rPr>
              <a:t>[10]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0263" y="627673"/>
            <a:ext cx="4968240" cy="80359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86690">
              <a:lnSpc>
                <a:spcPts val="2200"/>
              </a:lnSpc>
            </a:pPr>
            <a:r>
              <a:rPr dirty="0" sz="2400" spc="65" b="1" i="1">
                <a:solidFill>
                  <a:srgbClr val="FFFFFF"/>
                </a:solidFill>
                <a:latin typeface="Times New Roman"/>
                <a:cs typeface="Times New Roman"/>
              </a:rPr>
              <a:t>TITLE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14599"/>
              </a:lnSpc>
            </a:pPr>
            <a:r>
              <a:rPr dirty="0" sz="2400" spc="130">
                <a:latin typeface="Times New Roman"/>
                <a:cs typeface="Times New Roman"/>
              </a:rPr>
              <a:t>D.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80">
                <a:latin typeface="Times New Roman"/>
                <a:cs typeface="Times New Roman"/>
              </a:rPr>
              <a:t>Wu,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S.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100">
                <a:latin typeface="Times New Roman"/>
                <a:cs typeface="Times New Roman"/>
              </a:rPr>
              <a:t>Zhou,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60">
                <a:latin typeface="Times New Roman"/>
                <a:cs typeface="Times New Roman"/>
              </a:rPr>
              <a:t>“Applications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90">
                <a:latin typeface="Times New Roman"/>
                <a:cs typeface="Times New Roman"/>
              </a:rPr>
              <a:t>and </a:t>
            </a:r>
            <a:r>
              <a:rPr dirty="0" sz="2400">
                <a:latin typeface="Times New Roman"/>
                <a:cs typeface="Times New Roman"/>
              </a:rPr>
              <a:t>Reliability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of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 spc="80">
                <a:latin typeface="Times New Roman"/>
                <a:cs typeface="Times New Roman"/>
              </a:rPr>
              <a:t>Automatic</a:t>
            </a:r>
            <a:r>
              <a:rPr dirty="0" sz="2400" spc="165">
                <a:latin typeface="Times New Roman"/>
                <a:cs typeface="Times New Roman"/>
              </a:rPr>
              <a:t> </a:t>
            </a:r>
            <a:r>
              <a:rPr dirty="0" sz="2400" spc="60">
                <a:latin typeface="Times New Roman"/>
                <a:cs typeface="Times New Roman"/>
              </a:rPr>
              <a:t>Facial </a:t>
            </a:r>
            <a:r>
              <a:rPr dirty="0" sz="2400" spc="95">
                <a:latin typeface="Times New Roman"/>
                <a:cs typeface="Times New Roman"/>
              </a:rPr>
              <a:t>Emotion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65">
                <a:latin typeface="Times New Roman"/>
                <a:cs typeface="Times New Roman"/>
              </a:rPr>
              <a:t>Recognition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in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Video </a:t>
            </a:r>
            <a:r>
              <a:rPr dirty="0" sz="2400">
                <a:latin typeface="Times New Roman"/>
                <a:cs typeface="Times New Roman"/>
              </a:rPr>
              <a:t>Analysis,”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 spc="145">
                <a:latin typeface="Times New Roman"/>
                <a:cs typeface="Times New Roman"/>
              </a:rPr>
              <a:t>ACM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 spc="155">
                <a:latin typeface="Times New Roman"/>
                <a:cs typeface="Times New Roman"/>
              </a:rPr>
              <a:t>TMM,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vol.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24,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 spc="90">
                <a:latin typeface="Times New Roman"/>
                <a:cs typeface="Times New Roman"/>
              </a:rPr>
              <a:t>no. </a:t>
            </a:r>
            <a:r>
              <a:rPr dirty="0" sz="2400" spc="-25">
                <a:latin typeface="Times New Roman"/>
                <a:cs typeface="Times New Roman"/>
              </a:rPr>
              <a:t>5,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dirty="0" sz="2400" spc="90">
                <a:latin typeface="Times New Roman"/>
                <a:cs typeface="Times New Roman"/>
              </a:rPr>
              <a:t>pp.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452–</a:t>
            </a:r>
            <a:r>
              <a:rPr dirty="0" sz="2400">
                <a:latin typeface="Times New Roman"/>
                <a:cs typeface="Times New Roman"/>
              </a:rPr>
              <a:t>463,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2024.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2400">
              <a:latin typeface="Times New Roman"/>
              <a:cs typeface="Times New Roman"/>
            </a:endParaRPr>
          </a:p>
          <a:p>
            <a:pPr marR="264160">
              <a:lnSpc>
                <a:spcPts val="2850"/>
              </a:lnSpc>
            </a:pPr>
            <a:r>
              <a:rPr dirty="0" sz="2400" spc="85">
                <a:latin typeface="Times New Roman"/>
                <a:cs typeface="Times New Roman"/>
              </a:rPr>
              <a:t>T.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100">
                <a:latin typeface="Times New Roman"/>
                <a:cs typeface="Times New Roman"/>
              </a:rPr>
              <a:t>Park,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S.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90">
                <a:latin typeface="Times New Roman"/>
                <a:cs typeface="Times New Roman"/>
              </a:rPr>
              <a:t>Kim,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“Emotion </a:t>
            </a:r>
            <a:r>
              <a:rPr dirty="0" sz="2400" spc="70">
                <a:latin typeface="Times New Roman"/>
                <a:cs typeface="Times New Roman"/>
              </a:rPr>
              <a:t>Recognition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 spc="45">
                <a:latin typeface="Times New Roman"/>
                <a:cs typeface="Times New Roman"/>
              </a:rPr>
              <a:t>multi-</a:t>
            </a:r>
            <a:r>
              <a:rPr dirty="0" sz="2400" spc="90">
                <a:latin typeface="Times New Roman"/>
                <a:cs typeface="Times New Roman"/>
              </a:rPr>
              <a:t>modal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 spc="105">
                <a:latin typeface="Times New Roman"/>
                <a:cs typeface="Times New Roman"/>
              </a:rPr>
              <a:t>data </a:t>
            </a:r>
            <a:r>
              <a:rPr dirty="0" sz="2400" spc="120">
                <a:latin typeface="Times New Roman"/>
                <a:cs typeface="Times New Roman"/>
              </a:rPr>
              <a:t>and</a:t>
            </a:r>
            <a:r>
              <a:rPr dirty="0" sz="2400" spc="14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self-</a:t>
            </a:r>
            <a:r>
              <a:rPr dirty="0" sz="2400">
                <a:latin typeface="Times New Roman"/>
                <a:cs typeface="Times New Roman"/>
              </a:rPr>
              <a:t>supervised</a:t>
            </a:r>
            <a:r>
              <a:rPr dirty="0" sz="2400" spc="145">
                <a:latin typeface="Times New Roman"/>
                <a:cs typeface="Times New Roman"/>
              </a:rPr>
              <a:t> </a:t>
            </a:r>
            <a:r>
              <a:rPr dirty="0" sz="2400" spc="60">
                <a:latin typeface="Times New Roman"/>
                <a:cs typeface="Times New Roman"/>
              </a:rPr>
              <a:t>learning,”</a:t>
            </a:r>
            <a:r>
              <a:rPr dirty="0" sz="2400" spc="150">
                <a:latin typeface="Times New Roman"/>
                <a:cs typeface="Times New Roman"/>
              </a:rPr>
              <a:t> </a:t>
            </a:r>
            <a:r>
              <a:rPr dirty="0" sz="2400" spc="125">
                <a:latin typeface="Times New Roman"/>
                <a:cs typeface="Times New Roman"/>
              </a:rPr>
              <a:t>ACM </a:t>
            </a:r>
            <a:r>
              <a:rPr dirty="0" sz="2400" spc="160">
                <a:latin typeface="Times New Roman"/>
                <a:cs typeface="Times New Roman"/>
              </a:rPr>
              <a:t>TMM,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vol.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31,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no.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2,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pp.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339–</a:t>
            </a:r>
            <a:r>
              <a:rPr dirty="0" sz="2400" spc="-20">
                <a:latin typeface="Times New Roman"/>
                <a:cs typeface="Times New Roman"/>
              </a:rPr>
              <a:t>347,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ts val="2760"/>
              </a:lnSpc>
            </a:pPr>
            <a:r>
              <a:rPr dirty="0" sz="2400" spc="-10">
                <a:latin typeface="Times New Roman"/>
                <a:cs typeface="Times New Roman"/>
              </a:rPr>
              <a:t>2024.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70750" y="627673"/>
            <a:ext cx="4131310" cy="79406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38175">
              <a:lnSpc>
                <a:spcPts val="2200"/>
              </a:lnSpc>
            </a:pPr>
            <a:r>
              <a:rPr dirty="0" sz="2400" spc="120" b="1" i="1">
                <a:solidFill>
                  <a:srgbClr val="FFFFFF"/>
                </a:solidFill>
                <a:latin typeface="Times New Roman"/>
                <a:cs typeface="Times New Roman"/>
              </a:rPr>
              <a:t>KEY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40" b="1" i="1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2400">
              <a:latin typeface="Times New Roman"/>
              <a:cs typeface="Times New Roman"/>
            </a:endParaRPr>
          </a:p>
          <a:p>
            <a:pPr marR="163830">
              <a:lnSpc>
                <a:spcPct val="114599"/>
              </a:lnSpc>
            </a:pPr>
            <a:r>
              <a:rPr dirty="0" sz="2400" spc="60">
                <a:latin typeface="Times New Roman"/>
                <a:cs typeface="Times New Roman"/>
              </a:rPr>
              <a:t>Face-based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emotion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45">
                <a:latin typeface="Times New Roman"/>
                <a:cs typeface="Times New Roman"/>
              </a:rPr>
              <a:t>detection. </a:t>
            </a:r>
            <a:r>
              <a:rPr dirty="0" sz="2400">
                <a:latin typeface="Times New Roman"/>
                <a:cs typeface="Times New Roman"/>
              </a:rPr>
              <a:t>Reliability</a:t>
            </a:r>
            <a:r>
              <a:rPr dirty="0" sz="2400" spc="46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analysis.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dirty="0" sz="2400" spc="95">
                <a:latin typeface="Times New Roman"/>
                <a:cs typeface="Times New Roman"/>
              </a:rPr>
              <a:t>Automated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105">
                <a:latin typeface="Times New Roman"/>
                <a:cs typeface="Times New Roman"/>
              </a:rPr>
              <a:t>annotation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2400">
              <a:latin typeface="Times New Roman"/>
              <a:cs typeface="Times New Roman"/>
            </a:endParaRPr>
          </a:p>
          <a:p>
            <a:pPr marR="306070">
              <a:lnSpc>
                <a:spcPct val="114599"/>
              </a:lnSpc>
            </a:pPr>
            <a:r>
              <a:rPr dirty="0" sz="2400" spc="65">
                <a:latin typeface="Times New Roman"/>
                <a:cs typeface="Times New Roman"/>
              </a:rPr>
              <a:t>Combines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80">
                <a:latin typeface="Times New Roman"/>
                <a:cs typeface="Times New Roman"/>
              </a:rPr>
              <a:t>multimodal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&amp;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self-supervised.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14599"/>
              </a:lnSpc>
            </a:pPr>
            <a:r>
              <a:rPr dirty="0" sz="2400" spc="85">
                <a:latin typeface="Times New Roman"/>
                <a:cs typeface="Times New Roman"/>
              </a:rPr>
              <a:t>Improved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scaling</a:t>
            </a:r>
            <a:r>
              <a:rPr dirty="0" sz="2400" spc="55">
                <a:latin typeface="Times New Roman"/>
                <a:cs typeface="Times New Roman"/>
              </a:rPr>
              <a:t> </a:t>
            </a:r>
            <a:r>
              <a:rPr dirty="0" sz="2400" spc="75">
                <a:latin typeface="Times New Roman"/>
                <a:cs typeface="Times New Roman"/>
              </a:rPr>
              <a:t>for</a:t>
            </a:r>
            <a:r>
              <a:rPr dirty="0" sz="2400" spc="50">
                <a:latin typeface="Times New Roman"/>
                <a:cs typeface="Times New Roman"/>
              </a:rPr>
              <a:t> real</a:t>
            </a:r>
            <a:r>
              <a:rPr dirty="0" sz="2400" spc="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video. </a:t>
            </a:r>
            <a:r>
              <a:rPr dirty="0" sz="2400" spc="65">
                <a:latin typeface="Times New Roman"/>
                <a:cs typeface="Times New Roman"/>
              </a:rPr>
              <a:t>Quality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65">
                <a:latin typeface="Times New Roman"/>
                <a:cs typeface="Times New Roman"/>
              </a:rPr>
              <a:t>benchmarks.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40351" y="627673"/>
            <a:ext cx="3689985" cy="7493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7175">
              <a:lnSpc>
                <a:spcPts val="2200"/>
              </a:lnSpc>
            </a:pPr>
            <a:r>
              <a:rPr dirty="0" sz="2400" spc="80" b="1" i="1">
                <a:solidFill>
                  <a:srgbClr val="FFFFFF"/>
                </a:solidFill>
                <a:latin typeface="Times New Roman"/>
                <a:cs typeface="Times New Roman"/>
              </a:rPr>
              <a:t>GAPS</a:t>
            </a:r>
            <a:r>
              <a:rPr dirty="0" sz="2400" spc="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IDENTIFIED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2400">
              <a:latin typeface="Times New Roman"/>
              <a:cs typeface="Times New Roman"/>
            </a:endParaRPr>
          </a:p>
          <a:p>
            <a:pPr marR="795020">
              <a:lnSpc>
                <a:spcPct val="114599"/>
              </a:lnSpc>
            </a:pPr>
            <a:r>
              <a:rPr dirty="0" sz="2400" spc="75">
                <a:latin typeface="Times New Roman"/>
                <a:cs typeface="Times New Roman"/>
              </a:rPr>
              <a:t>Weak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60">
                <a:latin typeface="Times New Roman"/>
                <a:cs typeface="Times New Roman"/>
              </a:rPr>
              <a:t>performance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90">
                <a:latin typeface="Times New Roman"/>
                <a:cs typeface="Times New Roman"/>
              </a:rPr>
              <a:t>on </a:t>
            </a:r>
            <a:r>
              <a:rPr dirty="0" sz="2400" spc="45">
                <a:latin typeface="Times New Roman"/>
                <a:cs typeface="Times New Roman"/>
              </a:rPr>
              <a:t>occluded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faces.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dirty="0" sz="2400" spc="170">
                <a:latin typeface="Times New Roman"/>
                <a:cs typeface="Times New Roman"/>
              </a:rPr>
              <a:t>No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cross-</a:t>
            </a:r>
            <a:r>
              <a:rPr dirty="0" sz="2400" spc="65">
                <a:latin typeface="Times New Roman"/>
                <a:cs typeface="Times New Roman"/>
              </a:rPr>
              <a:t>cultural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study.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ts val="2865"/>
              </a:lnSpc>
            </a:pPr>
            <a:r>
              <a:rPr dirty="0" sz="2400" spc="70">
                <a:latin typeface="Times New Roman"/>
                <a:cs typeface="Times New Roman"/>
              </a:rPr>
              <a:t>Large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125">
                <a:latin typeface="Times New Roman"/>
                <a:cs typeface="Times New Roman"/>
              </a:rPr>
              <a:t>data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75">
                <a:latin typeface="Times New Roman"/>
                <a:cs typeface="Times New Roman"/>
              </a:rPr>
              <a:t>demand.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ts val="2865"/>
              </a:lnSpc>
            </a:pPr>
            <a:r>
              <a:rPr dirty="0" sz="2400" spc="155">
                <a:latin typeface="Times New Roman"/>
                <a:cs typeface="Times New Roman"/>
              </a:rPr>
              <a:t>Not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optimized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75">
                <a:latin typeface="Times New Roman"/>
                <a:cs typeface="Times New Roman"/>
              </a:rPr>
              <a:t>for</a:t>
            </a:r>
            <a:r>
              <a:rPr dirty="0" sz="2400">
                <a:latin typeface="Times New Roman"/>
                <a:cs typeface="Times New Roman"/>
              </a:rPr>
              <a:t> live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feeds.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65249" y="460452"/>
            <a:ext cx="15557500" cy="9366250"/>
            <a:chOff x="1365249" y="460452"/>
            <a:chExt cx="15557500" cy="9366250"/>
          </a:xfrm>
        </p:grpSpPr>
        <p:sp>
          <p:nvSpPr>
            <p:cNvPr id="7" name="object 7"/>
            <p:cNvSpPr/>
            <p:nvPr/>
          </p:nvSpPr>
          <p:spPr>
            <a:xfrm>
              <a:off x="1367624" y="465225"/>
              <a:ext cx="15553055" cy="9356725"/>
            </a:xfrm>
            <a:custGeom>
              <a:avLst/>
              <a:gdLst/>
              <a:ahLst/>
              <a:cxnLst/>
              <a:rect l="l" t="t" r="r" b="b"/>
              <a:pathLst>
                <a:path w="15553055" h="9356725">
                  <a:moveTo>
                    <a:pt x="15552738" y="0"/>
                  </a:moveTo>
                  <a:lnTo>
                    <a:pt x="11061040" y="0"/>
                  </a:lnTo>
                  <a:lnTo>
                    <a:pt x="6191440" y="0"/>
                  </a:lnTo>
                  <a:lnTo>
                    <a:pt x="848868" y="0"/>
                  </a:lnTo>
                  <a:lnTo>
                    <a:pt x="0" y="0"/>
                  </a:lnTo>
                  <a:lnTo>
                    <a:pt x="0" y="9356560"/>
                  </a:lnTo>
                  <a:lnTo>
                    <a:pt x="848868" y="9356560"/>
                  </a:lnTo>
                  <a:lnTo>
                    <a:pt x="6191440" y="9356560"/>
                  </a:lnTo>
                  <a:lnTo>
                    <a:pt x="11061040" y="9356560"/>
                  </a:lnTo>
                  <a:lnTo>
                    <a:pt x="15552738" y="9356560"/>
                  </a:lnTo>
                  <a:lnTo>
                    <a:pt x="155527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65249" y="462833"/>
              <a:ext cx="15557500" cy="9361805"/>
            </a:xfrm>
            <a:custGeom>
              <a:avLst/>
              <a:gdLst/>
              <a:ahLst/>
              <a:cxnLst/>
              <a:rect l="l" t="t" r="r" b="b"/>
              <a:pathLst>
                <a:path w="15557500" h="9361805">
                  <a:moveTo>
                    <a:pt x="2380" y="2380"/>
                  </a:moveTo>
                  <a:lnTo>
                    <a:pt x="2380" y="9358950"/>
                  </a:lnTo>
                </a:path>
                <a:path w="15557500" h="9361805">
                  <a:moveTo>
                    <a:pt x="851251" y="2380"/>
                  </a:moveTo>
                  <a:lnTo>
                    <a:pt x="851251" y="9358950"/>
                  </a:lnTo>
                </a:path>
                <a:path w="15557500" h="9361805">
                  <a:moveTo>
                    <a:pt x="6193817" y="2380"/>
                  </a:moveTo>
                  <a:lnTo>
                    <a:pt x="6193817" y="9358950"/>
                  </a:lnTo>
                </a:path>
                <a:path w="15557500" h="9361805">
                  <a:moveTo>
                    <a:pt x="11063416" y="2380"/>
                  </a:moveTo>
                  <a:lnTo>
                    <a:pt x="11063416" y="9358950"/>
                  </a:lnTo>
                </a:path>
                <a:path w="15557500" h="9361805">
                  <a:moveTo>
                    <a:pt x="15555117" y="2380"/>
                  </a:moveTo>
                  <a:lnTo>
                    <a:pt x="15555117" y="9358950"/>
                  </a:lnTo>
                </a:path>
                <a:path w="15557500" h="9361805">
                  <a:moveTo>
                    <a:pt x="0" y="0"/>
                  </a:moveTo>
                  <a:lnTo>
                    <a:pt x="15557499" y="0"/>
                  </a:lnTo>
                </a:path>
                <a:path w="15557500" h="9361805">
                  <a:moveTo>
                    <a:pt x="0" y="1019174"/>
                  </a:moveTo>
                  <a:lnTo>
                    <a:pt x="15557499" y="1019174"/>
                  </a:lnTo>
                </a:path>
                <a:path w="15557500" h="9361805">
                  <a:moveTo>
                    <a:pt x="0" y="5311207"/>
                  </a:moveTo>
                  <a:lnTo>
                    <a:pt x="15557499" y="5311207"/>
                  </a:lnTo>
                </a:path>
                <a:path w="15557500" h="9361805">
                  <a:moveTo>
                    <a:pt x="0" y="9361331"/>
                  </a:moveTo>
                  <a:lnTo>
                    <a:pt x="15557499" y="9361331"/>
                  </a:lnTo>
                </a:path>
              </a:pathLst>
            </a:custGeom>
            <a:ln w="4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dirty="0" spc="-130"/>
              <a:t> </a:t>
            </a:r>
            <a:fld id="{81D60167-4931-47E6-BA6A-407CBD079E47}" type="slidenum">
              <a:rPr dirty="0" spc="-210"/>
              <a:t>10</a:t>
            </a:fld>
            <a:r>
              <a:rPr dirty="0" spc="-12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2289" y="417251"/>
            <a:ext cx="607060" cy="73190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0"/>
              </a:lnSpc>
            </a:pPr>
            <a:r>
              <a:rPr dirty="0" sz="2400" spc="-30" b="1" i="1">
                <a:solidFill>
                  <a:srgbClr val="FFFFFF"/>
                </a:solidFill>
                <a:latin typeface="Times New Roman"/>
                <a:cs typeface="Times New Roman"/>
              </a:rPr>
              <a:t>REF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240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dirty="0" sz="2400" spc="-20">
                <a:latin typeface="Times New Roman"/>
                <a:cs typeface="Times New Roman"/>
              </a:rPr>
              <a:t>[11]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240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dirty="0" sz="2400" spc="-20">
                <a:latin typeface="Times New Roman"/>
                <a:cs typeface="Times New Roman"/>
              </a:rPr>
              <a:t>[12]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34270" y="417251"/>
            <a:ext cx="4890135" cy="80429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200"/>
              </a:lnSpc>
            </a:pPr>
            <a:r>
              <a:rPr dirty="0" sz="2400" spc="65" b="1" i="1">
                <a:solidFill>
                  <a:srgbClr val="FFFFFF"/>
                </a:solidFill>
                <a:latin typeface="Times New Roman"/>
                <a:cs typeface="Times New Roman"/>
              </a:rPr>
              <a:t>TITLE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ts val="2850"/>
              </a:lnSpc>
            </a:pPr>
            <a:r>
              <a:rPr dirty="0" sz="2400">
                <a:latin typeface="Times New Roman"/>
                <a:cs typeface="Times New Roman"/>
              </a:rPr>
              <a:t>S.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 spc="60">
                <a:latin typeface="Times New Roman"/>
                <a:cs typeface="Times New Roman"/>
              </a:rPr>
              <a:t>Agarwal,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 spc="135">
                <a:latin typeface="Times New Roman"/>
                <a:cs typeface="Times New Roman"/>
              </a:rPr>
              <a:t>H.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Singh,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 spc="90">
                <a:latin typeface="Times New Roman"/>
                <a:cs typeface="Times New Roman"/>
              </a:rPr>
              <a:t>“Real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 spc="30">
                <a:latin typeface="Times New Roman"/>
                <a:cs typeface="Times New Roman"/>
              </a:rPr>
              <a:t>Time </a:t>
            </a:r>
            <a:r>
              <a:rPr dirty="0" sz="2400" spc="100">
                <a:latin typeface="Times New Roman"/>
                <a:cs typeface="Times New Roman"/>
              </a:rPr>
              <a:t>Emotion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Recognition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60">
                <a:latin typeface="Times New Roman"/>
                <a:cs typeface="Times New Roman"/>
              </a:rPr>
              <a:t>Using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45">
                <a:latin typeface="Times New Roman"/>
                <a:cs typeface="Times New Roman"/>
              </a:rPr>
              <a:t>Image Classification,”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120">
                <a:latin typeface="Times New Roman"/>
                <a:cs typeface="Times New Roman"/>
              </a:rPr>
              <a:t>ACM,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100">
                <a:latin typeface="Times New Roman"/>
                <a:cs typeface="Times New Roman"/>
              </a:rPr>
              <a:t>ICIP,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pp.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276–</a:t>
            </a:r>
            <a:r>
              <a:rPr dirty="0" sz="2400">
                <a:latin typeface="Times New Roman"/>
                <a:cs typeface="Times New Roman"/>
              </a:rPr>
              <a:t>285,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2023.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10"/>
              </a:spcBef>
            </a:pPr>
            <a:endParaRPr sz="2400">
              <a:latin typeface="Times New Roman"/>
              <a:cs typeface="Times New Roman"/>
            </a:endParaRPr>
          </a:p>
          <a:p>
            <a:pPr marR="137795">
              <a:lnSpc>
                <a:spcPts val="2850"/>
              </a:lnSpc>
            </a:pPr>
            <a:r>
              <a:rPr dirty="0" sz="2400" spc="135">
                <a:latin typeface="Times New Roman"/>
                <a:cs typeface="Times New Roman"/>
              </a:rPr>
              <a:t>H.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130">
                <a:latin typeface="Times New Roman"/>
                <a:cs typeface="Times New Roman"/>
              </a:rPr>
              <a:t>Gu,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S.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Petrangeli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120">
                <a:latin typeface="Times New Roman"/>
                <a:cs typeface="Times New Roman"/>
              </a:rPr>
              <a:t>and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V. </a:t>
            </a:r>
            <a:r>
              <a:rPr dirty="0" sz="2400" spc="80">
                <a:latin typeface="Times New Roman"/>
                <a:cs typeface="Times New Roman"/>
              </a:rPr>
              <a:t>Swaminathan,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"SumBot: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45">
                <a:latin typeface="Times New Roman"/>
                <a:cs typeface="Times New Roman"/>
              </a:rPr>
              <a:t>Summarize </a:t>
            </a:r>
            <a:r>
              <a:rPr dirty="0" sz="2400">
                <a:latin typeface="Times New Roman"/>
                <a:cs typeface="Times New Roman"/>
              </a:rPr>
              <a:t>Videos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Like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125">
                <a:latin typeface="Times New Roman"/>
                <a:cs typeface="Times New Roman"/>
              </a:rPr>
              <a:t>a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105">
                <a:latin typeface="Times New Roman"/>
                <a:cs typeface="Times New Roman"/>
              </a:rPr>
              <a:t>Human,"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2020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105">
                <a:latin typeface="Times New Roman"/>
                <a:cs typeface="Times New Roman"/>
              </a:rPr>
              <a:t>IEEE </a:t>
            </a:r>
            <a:r>
              <a:rPr dirty="0" sz="2400" spc="90">
                <a:latin typeface="Times New Roman"/>
                <a:cs typeface="Times New Roman"/>
              </a:rPr>
              <a:t>International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Symposium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on </a:t>
            </a:r>
            <a:r>
              <a:rPr dirty="0" sz="2400" spc="75">
                <a:latin typeface="Times New Roman"/>
                <a:cs typeface="Times New Roman"/>
              </a:rPr>
              <a:t>Multimedia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60">
                <a:latin typeface="Times New Roman"/>
                <a:cs typeface="Times New Roman"/>
              </a:rPr>
              <a:t>(ISM),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65">
                <a:latin typeface="Times New Roman"/>
                <a:cs typeface="Times New Roman"/>
              </a:rPr>
              <a:t>Naples,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Italy, </a:t>
            </a:r>
            <a:r>
              <a:rPr dirty="0" sz="2400">
                <a:latin typeface="Times New Roman"/>
                <a:cs typeface="Times New Roman"/>
              </a:rPr>
              <a:t>2020,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pp.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210-</a:t>
            </a:r>
            <a:r>
              <a:rPr dirty="0" sz="2400" spc="-20">
                <a:latin typeface="Times New Roman"/>
                <a:cs typeface="Times New Roman"/>
              </a:rPr>
              <a:t>217.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30120" y="417251"/>
            <a:ext cx="5314950" cy="76809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70">
              <a:lnSpc>
                <a:spcPts val="2200"/>
              </a:lnSpc>
            </a:pPr>
            <a:r>
              <a:rPr dirty="0" sz="2400" spc="120" b="1" i="1">
                <a:solidFill>
                  <a:srgbClr val="FFFFFF"/>
                </a:solidFill>
                <a:latin typeface="Times New Roman"/>
                <a:cs typeface="Times New Roman"/>
              </a:rPr>
              <a:t>KEY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40" b="1" i="1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2400">
              <a:latin typeface="Times New Roman"/>
              <a:cs typeface="Times New Roman"/>
            </a:endParaRPr>
          </a:p>
          <a:p>
            <a:pPr marR="1534160">
              <a:lnSpc>
                <a:spcPts val="2850"/>
              </a:lnSpc>
            </a:pPr>
            <a:r>
              <a:rPr dirty="0" sz="2400" spc="65">
                <a:latin typeface="Times New Roman"/>
                <a:cs typeface="Times New Roman"/>
              </a:rPr>
              <a:t>Real-</a:t>
            </a:r>
            <a:r>
              <a:rPr dirty="0" sz="2400" spc="50">
                <a:latin typeface="Times New Roman"/>
                <a:cs typeface="Times New Roman"/>
              </a:rPr>
              <a:t>time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80">
                <a:latin typeface="Times New Roman"/>
                <a:cs typeface="Times New Roman"/>
              </a:rPr>
              <a:t>emotion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45">
                <a:latin typeface="Times New Roman"/>
                <a:cs typeface="Times New Roman"/>
              </a:rPr>
              <a:t>detection. </a:t>
            </a:r>
            <a:r>
              <a:rPr dirty="0" sz="2400" spc="114">
                <a:latin typeface="Times New Roman"/>
                <a:cs typeface="Times New Roman"/>
              </a:rPr>
              <a:t>Dashboard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60">
                <a:latin typeface="Times New Roman"/>
                <a:cs typeface="Times New Roman"/>
              </a:rPr>
              <a:t>integration.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ts val="2760"/>
              </a:lnSpc>
            </a:pPr>
            <a:r>
              <a:rPr dirty="0" sz="2400" spc="120">
                <a:latin typeface="Times New Roman"/>
                <a:cs typeface="Times New Roman"/>
              </a:rPr>
              <a:t>Fast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response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ts val="2865"/>
              </a:lnSpc>
            </a:pPr>
            <a:r>
              <a:rPr dirty="0" sz="2400">
                <a:latin typeface="Times New Roman"/>
                <a:cs typeface="Times New Roman"/>
              </a:rPr>
              <a:t>•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 spc="85">
                <a:latin typeface="Times New Roman"/>
                <a:cs typeface="Times New Roman"/>
              </a:rPr>
              <a:t>Shot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splitting;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Inception/CNN</a:t>
            </a:r>
            <a:r>
              <a:rPr dirty="0" sz="2400" spc="120">
                <a:latin typeface="Times New Roman"/>
                <a:cs typeface="Times New Roman"/>
              </a:rPr>
              <a:t> </a:t>
            </a:r>
            <a:r>
              <a:rPr dirty="0" sz="2400" spc="40">
                <a:latin typeface="Times New Roman"/>
                <a:cs typeface="Times New Roman"/>
              </a:rPr>
              <a:t>features.</a:t>
            </a:r>
            <a:endParaRPr sz="2400">
              <a:latin typeface="Times New Roman"/>
              <a:cs typeface="Times New Roman"/>
            </a:endParaRPr>
          </a:p>
          <a:p>
            <a:pPr marR="575310">
              <a:lnSpc>
                <a:spcPts val="2850"/>
              </a:lnSpc>
              <a:spcBef>
                <a:spcPts val="105"/>
              </a:spcBef>
            </a:pPr>
            <a:r>
              <a:rPr dirty="0" sz="2400">
                <a:latin typeface="Times New Roman"/>
                <a:cs typeface="Times New Roman"/>
              </a:rPr>
              <a:t>•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130">
                <a:latin typeface="Times New Roman"/>
                <a:cs typeface="Times New Roman"/>
              </a:rPr>
              <a:t>MDP/IRL: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125">
                <a:latin typeface="Times New Roman"/>
                <a:cs typeface="Times New Roman"/>
              </a:rPr>
              <a:t>MaxEnt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60">
                <a:latin typeface="Times New Roman"/>
                <a:cs typeface="Times New Roman"/>
              </a:rPr>
              <a:t>reward;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policy </a:t>
            </a:r>
            <a:r>
              <a:rPr dirty="0" sz="2400" spc="65">
                <a:latin typeface="Times New Roman"/>
                <a:cs typeface="Times New Roman"/>
              </a:rPr>
              <a:t>iteration.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ts val="2760"/>
              </a:lnSpc>
            </a:pPr>
            <a:r>
              <a:rPr dirty="0" sz="2400">
                <a:latin typeface="Times New Roman"/>
                <a:cs typeface="Times New Roman"/>
              </a:rPr>
              <a:t>•</a:t>
            </a:r>
            <a:r>
              <a:rPr dirty="0" sz="2400" spc="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70.65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 spc="120">
                <a:latin typeface="Times New Roman"/>
                <a:cs typeface="Times New Roman"/>
              </a:rPr>
              <a:t>F-</a:t>
            </a:r>
            <a:r>
              <a:rPr dirty="0" sz="2400">
                <a:latin typeface="Times New Roman"/>
                <a:cs typeface="Times New Roman"/>
              </a:rPr>
              <a:t>score;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mimics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experts.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52110" y="417251"/>
            <a:ext cx="4298315" cy="75285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2540">
              <a:lnSpc>
                <a:spcPts val="2200"/>
              </a:lnSpc>
            </a:pPr>
            <a:r>
              <a:rPr dirty="0" sz="2400" spc="80" b="1" i="1">
                <a:solidFill>
                  <a:srgbClr val="FFFFFF"/>
                </a:solidFill>
                <a:latin typeface="Times New Roman"/>
                <a:cs typeface="Times New Roman"/>
              </a:rPr>
              <a:t>GAPS</a:t>
            </a:r>
            <a:r>
              <a:rPr dirty="0" sz="2400" spc="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IDENTIFIED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2400">
              <a:latin typeface="Times New Roman"/>
              <a:cs typeface="Times New Roman"/>
            </a:endParaRPr>
          </a:p>
          <a:p>
            <a:pPr marL="517525" marR="755650">
              <a:lnSpc>
                <a:spcPts val="2850"/>
              </a:lnSpc>
            </a:pPr>
            <a:r>
              <a:rPr dirty="0" sz="2400" spc="90">
                <a:latin typeface="Times New Roman"/>
                <a:cs typeface="Times New Roman"/>
              </a:rPr>
              <a:t>Focus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120">
                <a:latin typeface="Times New Roman"/>
                <a:cs typeface="Times New Roman"/>
              </a:rPr>
              <a:t>on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static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images. </a:t>
            </a:r>
            <a:r>
              <a:rPr dirty="0" sz="2400" spc="55">
                <a:latin typeface="Times New Roman"/>
                <a:cs typeface="Times New Roman"/>
              </a:rPr>
              <a:t>Needs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45">
                <a:latin typeface="Times New Roman"/>
                <a:cs typeface="Times New Roman"/>
              </a:rPr>
              <a:t>extension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for </a:t>
            </a:r>
            <a:r>
              <a:rPr dirty="0" sz="2400">
                <a:latin typeface="Times New Roman"/>
                <a:cs typeface="Times New Roman"/>
              </a:rPr>
              <a:t>sequence</a:t>
            </a:r>
            <a:r>
              <a:rPr dirty="0" sz="2400" spc="254">
                <a:latin typeface="Times New Roman"/>
                <a:cs typeface="Times New Roman"/>
              </a:rPr>
              <a:t> </a:t>
            </a:r>
            <a:r>
              <a:rPr dirty="0" sz="2400" spc="65">
                <a:latin typeface="Times New Roman"/>
                <a:cs typeface="Times New Roman"/>
              </a:rPr>
              <a:t>emotion.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2400">
              <a:latin typeface="Times New Roman"/>
              <a:cs typeface="Times New Roman"/>
            </a:endParaRPr>
          </a:p>
          <a:p>
            <a:pPr marR="97155">
              <a:lnSpc>
                <a:spcPct val="114599"/>
              </a:lnSpc>
            </a:pPr>
            <a:r>
              <a:rPr dirty="0" sz="2400">
                <a:latin typeface="Times New Roman"/>
                <a:cs typeface="Times New Roman"/>
              </a:rPr>
              <a:t>•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70">
                <a:latin typeface="Times New Roman"/>
                <a:cs typeface="Times New Roman"/>
              </a:rPr>
              <a:t>Linear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55">
                <a:latin typeface="Times New Roman"/>
                <a:cs typeface="Times New Roman"/>
              </a:rPr>
              <a:t>reward;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semi-</a:t>
            </a:r>
            <a:r>
              <a:rPr dirty="0" sz="2400" spc="65">
                <a:latin typeface="Times New Roman"/>
                <a:cs typeface="Times New Roman"/>
              </a:rPr>
              <a:t>structured </a:t>
            </a:r>
            <a:r>
              <a:rPr dirty="0" sz="2400" spc="-10">
                <a:latin typeface="Times New Roman"/>
                <a:cs typeface="Times New Roman"/>
              </a:rPr>
              <a:t>only.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dirty="0" sz="2400">
                <a:latin typeface="Times New Roman"/>
                <a:cs typeface="Times New Roman"/>
              </a:rPr>
              <a:t>•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Soccer-focused;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few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50">
                <a:latin typeface="Times New Roman"/>
                <a:cs typeface="Times New Roman"/>
              </a:rPr>
              <a:t>demos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risk.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28388" y="250031"/>
            <a:ext cx="17221200" cy="9766300"/>
            <a:chOff x="528388" y="250031"/>
            <a:chExt cx="17221200" cy="9766300"/>
          </a:xfrm>
        </p:grpSpPr>
        <p:sp>
          <p:nvSpPr>
            <p:cNvPr id="7" name="object 7"/>
            <p:cNvSpPr/>
            <p:nvPr/>
          </p:nvSpPr>
          <p:spPr>
            <a:xfrm>
              <a:off x="530758" y="254799"/>
              <a:ext cx="17216755" cy="9756775"/>
            </a:xfrm>
            <a:custGeom>
              <a:avLst/>
              <a:gdLst/>
              <a:ahLst/>
              <a:cxnLst/>
              <a:rect l="l" t="t" r="r" b="b"/>
              <a:pathLst>
                <a:path w="17216755" h="9756775">
                  <a:moveTo>
                    <a:pt x="17216438" y="0"/>
                  </a:moveTo>
                  <a:lnTo>
                    <a:pt x="12727585" y="0"/>
                  </a:lnTo>
                  <a:lnTo>
                    <a:pt x="6187529" y="0"/>
                  </a:lnTo>
                  <a:lnTo>
                    <a:pt x="1109738" y="0"/>
                  </a:lnTo>
                  <a:lnTo>
                    <a:pt x="0" y="0"/>
                  </a:lnTo>
                  <a:lnTo>
                    <a:pt x="0" y="9756775"/>
                  </a:lnTo>
                  <a:lnTo>
                    <a:pt x="1109738" y="9756775"/>
                  </a:lnTo>
                  <a:lnTo>
                    <a:pt x="6187529" y="9756775"/>
                  </a:lnTo>
                  <a:lnTo>
                    <a:pt x="12727585" y="9756775"/>
                  </a:lnTo>
                  <a:lnTo>
                    <a:pt x="17216438" y="9756775"/>
                  </a:lnTo>
                  <a:lnTo>
                    <a:pt x="172164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28388" y="252412"/>
              <a:ext cx="17221200" cy="9761855"/>
            </a:xfrm>
            <a:custGeom>
              <a:avLst/>
              <a:gdLst/>
              <a:ahLst/>
              <a:cxnLst/>
              <a:rect l="l" t="t" r="r" b="b"/>
              <a:pathLst>
                <a:path w="17221200" h="9761855">
                  <a:moveTo>
                    <a:pt x="2380" y="2380"/>
                  </a:moveTo>
                  <a:lnTo>
                    <a:pt x="2380" y="9759156"/>
                  </a:lnTo>
                </a:path>
                <a:path w="17221200" h="9761855">
                  <a:moveTo>
                    <a:pt x="1112120" y="2380"/>
                  </a:moveTo>
                  <a:lnTo>
                    <a:pt x="1112120" y="9759156"/>
                  </a:lnTo>
                </a:path>
                <a:path w="17221200" h="9761855">
                  <a:moveTo>
                    <a:pt x="6189899" y="2380"/>
                  </a:moveTo>
                  <a:lnTo>
                    <a:pt x="6189899" y="9759156"/>
                  </a:lnTo>
                </a:path>
                <a:path w="17221200" h="9761855">
                  <a:moveTo>
                    <a:pt x="12729959" y="2380"/>
                  </a:moveTo>
                  <a:lnTo>
                    <a:pt x="12729959" y="9759156"/>
                  </a:lnTo>
                </a:path>
                <a:path w="17221200" h="9761855">
                  <a:moveTo>
                    <a:pt x="17218817" y="2380"/>
                  </a:moveTo>
                  <a:lnTo>
                    <a:pt x="17218817" y="9759156"/>
                  </a:lnTo>
                </a:path>
                <a:path w="17221200" h="9761855">
                  <a:moveTo>
                    <a:pt x="0" y="0"/>
                  </a:moveTo>
                  <a:lnTo>
                    <a:pt x="17221198" y="0"/>
                  </a:lnTo>
                </a:path>
                <a:path w="17221200" h="9761855">
                  <a:moveTo>
                    <a:pt x="0" y="1023535"/>
                  </a:moveTo>
                  <a:lnTo>
                    <a:pt x="17221198" y="1023535"/>
                  </a:lnTo>
                </a:path>
                <a:path w="17221200" h="9761855">
                  <a:moveTo>
                    <a:pt x="0" y="4928151"/>
                  </a:moveTo>
                  <a:lnTo>
                    <a:pt x="17221198" y="4928151"/>
                  </a:lnTo>
                </a:path>
                <a:path w="17221200" h="9761855">
                  <a:moveTo>
                    <a:pt x="0" y="9761537"/>
                  </a:moveTo>
                  <a:lnTo>
                    <a:pt x="17221198" y="9761537"/>
                  </a:lnTo>
                </a:path>
              </a:pathLst>
            </a:custGeom>
            <a:ln w="4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dirty="0" spc="-130"/>
              <a:t> </a:t>
            </a:r>
            <a:fld id="{81D60167-4931-47E6-BA6A-407CBD079E47}" type="slidenum">
              <a:rPr dirty="0" spc="-210"/>
              <a:t>10</a:t>
            </a:fld>
            <a:r>
              <a:rPr dirty="0" spc="-12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686" y="1420050"/>
            <a:ext cx="17315853" cy="756458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746" rIns="0" bIns="0" rtlCol="0" vert="horz">
            <a:spAutoFit/>
          </a:bodyPr>
          <a:lstStyle/>
          <a:p>
            <a:pPr marL="1400175">
              <a:lnSpc>
                <a:spcPct val="100000"/>
              </a:lnSpc>
              <a:spcBef>
                <a:spcPts val="100"/>
              </a:spcBef>
            </a:pPr>
            <a:r>
              <a:rPr dirty="0" sz="4100" spc="125">
                <a:solidFill>
                  <a:srgbClr val="E36B09"/>
                </a:solidFill>
              </a:rPr>
              <a:t>PROPOSED</a:t>
            </a:r>
            <a:r>
              <a:rPr dirty="0" sz="4100" spc="30">
                <a:solidFill>
                  <a:srgbClr val="E36B09"/>
                </a:solidFill>
              </a:rPr>
              <a:t> </a:t>
            </a:r>
            <a:r>
              <a:rPr dirty="0" sz="4100" spc="85">
                <a:solidFill>
                  <a:srgbClr val="E36B09"/>
                </a:solidFill>
              </a:rPr>
              <a:t>METHOD</a:t>
            </a:r>
            <a:endParaRPr sz="4100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dirty="0" spc="-130"/>
              <a:t> </a:t>
            </a:r>
            <a:fld id="{81D60167-4931-47E6-BA6A-407CBD079E47}" type="slidenum">
              <a:rPr dirty="0" spc="-210"/>
              <a:t>10</a:t>
            </a:fld>
            <a:r>
              <a:rPr dirty="0" spc="-12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2637287"/>
            <a:ext cx="95250" cy="952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06860" y="2361126"/>
            <a:ext cx="14647544" cy="537083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194310">
              <a:lnSpc>
                <a:spcPts val="3829"/>
              </a:lnSpc>
              <a:spcBef>
                <a:spcPts val="235"/>
              </a:spcBef>
            </a:pPr>
            <a:r>
              <a:rPr dirty="0" sz="3200" spc="75">
                <a:latin typeface="Times New Roman"/>
                <a:cs typeface="Times New Roman"/>
              </a:rPr>
              <a:t>ZipClip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simplifies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05">
                <a:latin typeface="Times New Roman"/>
                <a:cs typeface="Times New Roman"/>
              </a:rPr>
              <a:t>content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creation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by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automatically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70">
                <a:latin typeface="Times New Roman"/>
                <a:cs typeface="Times New Roman"/>
              </a:rPr>
              <a:t>extracting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50">
                <a:latin typeface="Times New Roman"/>
                <a:cs typeface="Times New Roman"/>
              </a:rPr>
              <a:t>highlights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105">
                <a:latin typeface="Times New Roman"/>
                <a:cs typeface="Times New Roman"/>
              </a:rPr>
              <a:t>from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45">
                <a:latin typeface="Times New Roman"/>
                <a:cs typeface="Times New Roman"/>
              </a:rPr>
              <a:t>long </a:t>
            </a:r>
            <a:r>
              <a:rPr dirty="0" sz="3200">
                <a:latin typeface="Times New Roman"/>
                <a:cs typeface="Times New Roman"/>
              </a:rPr>
              <a:t>videos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generating</a:t>
            </a:r>
            <a:r>
              <a:rPr dirty="0" sz="3200" spc="50">
                <a:latin typeface="Times New Roman"/>
                <a:cs typeface="Times New Roman"/>
              </a:rPr>
              <a:t> engaging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story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reels.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557530">
              <a:lnSpc>
                <a:spcPts val="3829"/>
              </a:lnSpc>
            </a:pPr>
            <a:r>
              <a:rPr dirty="0" sz="3200" spc="165">
                <a:latin typeface="Times New Roman"/>
                <a:cs typeface="Times New Roman"/>
              </a:rPr>
              <a:t>It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45">
                <a:latin typeface="Times New Roman"/>
                <a:cs typeface="Times New Roman"/>
              </a:rPr>
              <a:t>reduces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60">
                <a:latin typeface="Times New Roman"/>
                <a:cs typeface="Times New Roman"/>
              </a:rPr>
              <a:t>dependence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155">
                <a:latin typeface="Times New Roman"/>
                <a:cs typeface="Times New Roman"/>
              </a:rPr>
              <a:t>on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45">
                <a:latin typeface="Times New Roman"/>
                <a:cs typeface="Times New Roman"/>
              </a:rPr>
              <a:t>complex,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costly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editing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tools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by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45">
                <a:latin typeface="Times New Roman"/>
                <a:cs typeface="Times New Roman"/>
              </a:rPr>
              <a:t>offering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AI-</a:t>
            </a:r>
            <a:r>
              <a:rPr dirty="0" sz="3200" spc="80">
                <a:latin typeface="Times New Roman"/>
                <a:cs typeface="Times New Roman"/>
              </a:rPr>
              <a:t>based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Times New Roman"/>
                <a:cs typeface="Times New Roman"/>
              </a:rPr>
              <a:t>scene </a:t>
            </a:r>
            <a:r>
              <a:rPr dirty="0" sz="3200" spc="70">
                <a:latin typeface="Times New Roman"/>
                <a:cs typeface="Times New Roman"/>
              </a:rPr>
              <a:t>detection,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emotion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45">
                <a:latin typeface="Times New Roman"/>
                <a:cs typeface="Times New Roman"/>
              </a:rPr>
              <a:t>analysis,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114">
                <a:latin typeface="Times New Roman"/>
                <a:cs typeface="Times New Roman"/>
              </a:rPr>
              <a:t>smart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clip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70">
                <a:latin typeface="Times New Roman"/>
                <a:cs typeface="Times New Roman"/>
              </a:rPr>
              <a:t>generation.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ts val="3829"/>
              </a:lnSpc>
            </a:pPr>
            <a:r>
              <a:rPr dirty="0" sz="3200" spc="95">
                <a:latin typeface="Times New Roman"/>
                <a:cs typeface="Times New Roman"/>
              </a:rPr>
              <a:t>The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system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empowers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creators,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educators,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marketers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65">
                <a:latin typeface="Times New Roman"/>
                <a:cs typeface="Times New Roman"/>
              </a:rPr>
              <a:t>with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quick,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structured,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135">
                <a:latin typeface="Times New Roman"/>
                <a:cs typeface="Times New Roman"/>
              </a:rPr>
              <a:t>and </a:t>
            </a:r>
            <a:r>
              <a:rPr dirty="0" sz="3200" spc="95">
                <a:latin typeface="Times New Roman"/>
                <a:cs typeface="Times New Roman"/>
              </a:rPr>
              <a:t>platform-</a:t>
            </a:r>
            <a:r>
              <a:rPr dirty="0" sz="3200" spc="85">
                <a:latin typeface="Times New Roman"/>
                <a:cs typeface="Times New Roman"/>
              </a:rPr>
              <a:t>ready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130">
                <a:latin typeface="Times New Roman"/>
                <a:cs typeface="Times New Roman"/>
              </a:rPr>
              <a:t>outputs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85">
                <a:latin typeface="Times New Roman"/>
                <a:cs typeface="Times New Roman"/>
              </a:rPr>
              <a:t>tailored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for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Shorts,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Reels,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105">
                <a:latin typeface="Times New Roman"/>
                <a:cs typeface="Times New Roman"/>
              </a:rPr>
              <a:t>TikTok.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1578610">
              <a:lnSpc>
                <a:spcPts val="3829"/>
              </a:lnSpc>
            </a:pPr>
            <a:r>
              <a:rPr dirty="0" sz="3200" spc="100">
                <a:latin typeface="Times New Roman"/>
                <a:cs typeface="Times New Roman"/>
              </a:rPr>
              <a:t>With</a:t>
            </a:r>
            <a:r>
              <a:rPr dirty="0" sz="3200" spc="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scalability</a:t>
            </a:r>
            <a:r>
              <a:rPr dirty="0" sz="3200" spc="8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 spc="125">
                <a:latin typeface="Times New Roman"/>
                <a:cs typeface="Times New Roman"/>
              </a:rPr>
              <a:t>modular</a:t>
            </a:r>
            <a:r>
              <a:rPr dirty="0" sz="3200" spc="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design,</a:t>
            </a:r>
            <a:r>
              <a:rPr dirty="0" sz="3200" spc="85">
                <a:latin typeface="Times New Roman"/>
                <a:cs typeface="Times New Roman"/>
              </a:rPr>
              <a:t> </a:t>
            </a:r>
            <a:r>
              <a:rPr dirty="0" sz="3200" spc="75">
                <a:latin typeface="Times New Roman"/>
                <a:cs typeface="Times New Roman"/>
              </a:rPr>
              <a:t>ZipClip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sets</a:t>
            </a:r>
            <a:r>
              <a:rPr dirty="0" sz="3200" spc="85">
                <a:latin typeface="Times New Roman"/>
                <a:cs typeface="Times New Roman"/>
              </a:rPr>
              <a:t> </a:t>
            </a:r>
            <a:r>
              <a:rPr dirty="0" sz="3200" spc="95">
                <a:latin typeface="Times New Roman"/>
                <a:cs typeface="Times New Roman"/>
              </a:rPr>
              <a:t>the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 spc="120">
                <a:latin typeface="Times New Roman"/>
                <a:cs typeface="Times New Roman"/>
              </a:rPr>
              <a:t>foundation</a:t>
            </a:r>
            <a:r>
              <a:rPr dirty="0" sz="3200" spc="85">
                <a:latin typeface="Times New Roman"/>
                <a:cs typeface="Times New Roman"/>
              </a:rPr>
              <a:t> </a:t>
            </a:r>
            <a:r>
              <a:rPr dirty="0" sz="3200" spc="100">
                <a:latin typeface="Times New Roman"/>
                <a:cs typeface="Times New Roman"/>
              </a:rPr>
              <a:t>for</a:t>
            </a:r>
            <a:r>
              <a:rPr dirty="0" sz="3200" spc="85">
                <a:latin typeface="Times New Roman"/>
                <a:cs typeface="Times New Roman"/>
              </a:rPr>
              <a:t> </a:t>
            </a:r>
            <a:r>
              <a:rPr dirty="0" sz="3200" spc="90">
                <a:latin typeface="Times New Roman"/>
                <a:cs typeface="Times New Roman"/>
              </a:rPr>
              <a:t>future </a:t>
            </a:r>
            <a:r>
              <a:rPr dirty="0" sz="3200" spc="75">
                <a:latin typeface="Times New Roman"/>
                <a:cs typeface="Times New Roman"/>
              </a:rPr>
              <a:t>enhancements</a:t>
            </a:r>
            <a:r>
              <a:rPr dirty="0" sz="3200" spc="9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like</a:t>
            </a:r>
            <a:r>
              <a:rPr dirty="0" sz="3200" spc="95">
                <a:latin typeface="Times New Roman"/>
                <a:cs typeface="Times New Roman"/>
              </a:rPr>
              <a:t> </a:t>
            </a:r>
            <a:r>
              <a:rPr dirty="0" sz="3200" spc="125">
                <a:latin typeface="Times New Roman"/>
                <a:cs typeface="Times New Roman"/>
              </a:rPr>
              <a:t>auto-</a:t>
            </a:r>
            <a:r>
              <a:rPr dirty="0" sz="3200">
                <a:latin typeface="Times New Roman"/>
                <a:cs typeface="Times New Roman"/>
              </a:rPr>
              <a:t>music</a:t>
            </a:r>
            <a:r>
              <a:rPr dirty="0" sz="3200" spc="9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selection,</a:t>
            </a:r>
            <a:r>
              <a:rPr dirty="0" sz="3200" spc="95">
                <a:latin typeface="Times New Roman"/>
                <a:cs typeface="Times New Roman"/>
              </a:rPr>
              <a:t> </a:t>
            </a:r>
            <a:r>
              <a:rPr dirty="0" sz="3200" spc="55">
                <a:latin typeface="Times New Roman"/>
                <a:cs typeface="Times New Roman"/>
              </a:rPr>
              <a:t>subtitles,</a:t>
            </a:r>
            <a:r>
              <a:rPr dirty="0" sz="3200" spc="95">
                <a:latin typeface="Times New Roman"/>
                <a:cs typeface="Times New Roman"/>
              </a:rPr>
              <a:t> </a:t>
            </a:r>
            <a:r>
              <a:rPr dirty="0" sz="3200" spc="160">
                <a:latin typeface="Times New Roman"/>
                <a:cs typeface="Times New Roman"/>
              </a:rPr>
              <a:t>and</a:t>
            </a:r>
            <a:r>
              <a:rPr dirty="0" sz="3200" spc="95">
                <a:latin typeface="Times New Roman"/>
                <a:cs typeface="Times New Roman"/>
              </a:rPr>
              <a:t> </a:t>
            </a:r>
            <a:r>
              <a:rPr dirty="0" sz="3200" spc="60">
                <a:latin typeface="Times New Roman"/>
                <a:cs typeface="Times New Roman"/>
              </a:rPr>
              <a:t>multilingual</a:t>
            </a:r>
            <a:r>
              <a:rPr dirty="0" sz="3200" spc="95">
                <a:latin typeface="Times New Roman"/>
                <a:cs typeface="Times New Roman"/>
              </a:rPr>
              <a:t> </a:t>
            </a:r>
            <a:r>
              <a:rPr dirty="0" sz="3200" spc="110">
                <a:latin typeface="Times New Roman"/>
                <a:cs typeface="Times New Roman"/>
              </a:rPr>
              <a:t>support.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4094612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5551937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7009262"/>
            <a:ext cx="95250" cy="9524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26552" y="0"/>
            <a:ext cx="61594" cy="20320"/>
          </a:xfrm>
          <a:custGeom>
            <a:avLst/>
            <a:gdLst/>
            <a:ahLst/>
            <a:cxnLst/>
            <a:rect l="l" t="t" r="r" b="b"/>
            <a:pathLst>
              <a:path w="61594" h="20320">
                <a:moveTo>
                  <a:pt x="61219" y="0"/>
                </a:moveTo>
                <a:lnTo>
                  <a:pt x="30610" y="20121"/>
                </a:lnTo>
                <a:lnTo>
                  <a:pt x="26189" y="20121"/>
                </a:lnTo>
                <a:lnTo>
                  <a:pt x="1501" y="3626"/>
                </a:ln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4971" rIns="0" bIns="0" rtlCol="0" vert="horz">
            <a:spAutoFit/>
          </a:bodyPr>
          <a:lstStyle/>
          <a:p>
            <a:pPr marL="1658620">
              <a:lnSpc>
                <a:spcPct val="100000"/>
              </a:lnSpc>
              <a:spcBef>
                <a:spcPts val="100"/>
              </a:spcBef>
            </a:pPr>
            <a:r>
              <a:rPr dirty="0" spc="75"/>
              <a:t>CONCLUSION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dirty="0" spc="-130"/>
              <a:t> </a:t>
            </a:r>
            <a:fld id="{81D60167-4931-47E6-BA6A-407CBD079E47}" type="slidenum">
              <a:rPr dirty="0" spc="-210"/>
              <a:t>10</a:t>
            </a:fld>
            <a:r>
              <a:rPr dirty="0" spc="-12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2088704"/>
            <a:ext cx="95250" cy="952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49605">
              <a:lnSpc>
                <a:spcPct val="115199"/>
              </a:lnSpc>
              <a:spcBef>
                <a:spcPts val="100"/>
              </a:spcBef>
              <a:buAutoNum type="arabicPlain"/>
              <a:tabLst>
                <a:tab pos="662305" algn="l"/>
              </a:tabLst>
            </a:pPr>
            <a:r>
              <a:rPr dirty="0" spc="95"/>
              <a:t>X.</a:t>
            </a:r>
            <a:r>
              <a:rPr dirty="0" spc="114"/>
              <a:t>  </a:t>
            </a:r>
            <a:r>
              <a:rPr dirty="0" spc="135"/>
              <a:t>Zhou,</a:t>
            </a:r>
            <a:r>
              <a:rPr dirty="0" spc="120"/>
              <a:t>  </a:t>
            </a:r>
            <a:r>
              <a:rPr dirty="0" spc="100"/>
              <a:t>J.</a:t>
            </a:r>
            <a:r>
              <a:rPr dirty="0" spc="114"/>
              <a:t>  </a:t>
            </a:r>
            <a:r>
              <a:rPr dirty="0" spc="75"/>
              <a:t>Smith,</a:t>
            </a:r>
            <a:r>
              <a:rPr dirty="0" spc="120"/>
              <a:t>  </a:t>
            </a:r>
            <a:r>
              <a:rPr dirty="0" spc="60"/>
              <a:t>“Video</a:t>
            </a:r>
            <a:r>
              <a:rPr dirty="0" spc="114"/>
              <a:t>  </a:t>
            </a:r>
            <a:r>
              <a:rPr dirty="0" spc="95"/>
              <a:t>summarization</a:t>
            </a:r>
            <a:r>
              <a:rPr dirty="0" spc="120"/>
              <a:t>  </a:t>
            </a:r>
            <a:r>
              <a:rPr dirty="0"/>
              <a:t>using</a:t>
            </a:r>
            <a:r>
              <a:rPr dirty="0" spc="114"/>
              <a:t>  </a:t>
            </a:r>
            <a:r>
              <a:rPr dirty="0" spc="60"/>
              <a:t>deep</a:t>
            </a:r>
            <a:r>
              <a:rPr dirty="0" spc="120"/>
              <a:t>  </a:t>
            </a:r>
            <a:r>
              <a:rPr dirty="0" spc="65"/>
              <a:t>learning</a:t>
            </a:r>
            <a:r>
              <a:rPr dirty="0" spc="114"/>
              <a:t>  </a:t>
            </a:r>
            <a:r>
              <a:rPr dirty="0" spc="50"/>
              <a:t>techniques:</a:t>
            </a:r>
            <a:r>
              <a:rPr dirty="0" spc="120"/>
              <a:t>  a </a:t>
            </a:r>
            <a:r>
              <a:rPr dirty="0" spc="50"/>
              <a:t>comprehensive</a:t>
            </a:r>
            <a:r>
              <a:rPr dirty="0" spc="15"/>
              <a:t>  </a:t>
            </a:r>
            <a:r>
              <a:rPr dirty="0"/>
              <a:t>review,”</a:t>
            </a:r>
            <a:r>
              <a:rPr dirty="0" spc="20"/>
              <a:t>  </a:t>
            </a:r>
            <a:r>
              <a:rPr dirty="0" spc="195"/>
              <a:t>ACM</a:t>
            </a:r>
            <a:r>
              <a:rPr dirty="0" spc="20"/>
              <a:t>  </a:t>
            </a:r>
            <a:r>
              <a:rPr dirty="0" spc="110"/>
              <a:t>Computing</a:t>
            </a:r>
            <a:r>
              <a:rPr dirty="0" spc="20"/>
              <a:t>  </a:t>
            </a:r>
            <a:r>
              <a:rPr dirty="0"/>
              <a:t>Surveys,</a:t>
            </a:r>
            <a:r>
              <a:rPr dirty="0" spc="20"/>
              <a:t>  </a:t>
            </a:r>
            <a:r>
              <a:rPr dirty="0"/>
              <a:t>vol.</a:t>
            </a:r>
            <a:r>
              <a:rPr dirty="0" spc="20"/>
              <a:t>  </a:t>
            </a:r>
            <a:r>
              <a:rPr dirty="0"/>
              <a:t>56,</a:t>
            </a:r>
            <a:r>
              <a:rPr dirty="0" spc="20"/>
              <a:t>  </a:t>
            </a:r>
            <a:r>
              <a:rPr dirty="0" spc="120"/>
              <a:t>no.</a:t>
            </a:r>
            <a:r>
              <a:rPr dirty="0" spc="20"/>
              <a:t>  </a:t>
            </a:r>
            <a:r>
              <a:rPr dirty="0"/>
              <a:t>3,</a:t>
            </a:r>
            <a:r>
              <a:rPr dirty="0" spc="20"/>
              <a:t>  </a:t>
            </a:r>
            <a:r>
              <a:rPr dirty="0" spc="120"/>
              <a:t>pp.</a:t>
            </a:r>
            <a:r>
              <a:rPr dirty="0" spc="20"/>
              <a:t>  </a:t>
            </a:r>
            <a:r>
              <a:rPr dirty="0" spc="-20"/>
              <a:t>44:1–</a:t>
            </a:r>
            <a:r>
              <a:rPr dirty="0" spc="-10"/>
              <a:t>44:39, 2023.</a:t>
            </a:r>
          </a:p>
          <a:p>
            <a:pPr>
              <a:lnSpc>
                <a:spcPct val="100000"/>
              </a:lnSpc>
              <a:spcBef>
                <a:spcPts val="745"/>
              </a:spcBef>
              <a:buFont typeface="Times New Roman"/>
              <a:buAutoNum type="arabicPlain"/>
            </a:pPr>
          </a:p>
          <a:p>
            <a:pPr algn="just" marL="12700" marR="5080" indent="532765">
              <a:lnSpc>
                <a:spcPct val="115199"/>
              </a:lnSpc>
              <a:buAutoNum type="arabicPlain"/>
              <a:tabLst>
                <a:tab pos="545465" algn="l"/>
              </a:tabLst>
            </a:pPr>
            <a:r>
              <a:rPr dirty="0" spc="95"/>
              <a:t>Y.</a:t>
            </a:r>
            <a:r>
              <a:rPr dirty="0" spc="110"/>
              <a:t> </a:t>
            </a:r>
            <a:r>
              <a:rPr dirty="0" spc="95"/>
              <a:t>Chen,</a:t>
            </a:r>
            <a:r>
              <a:rPr dirty="0" spc="110"/>
              <a:t> </a:t>
            </a:r>
            <a:r>
              <a:rPr dirty="0" spc="114"/>
              <a:t>L.</a:t>
            </a:r>
            <a:r>
              <a:rPr dirty="0" spc="110"/>
              <a:t> </a:t>
            </a:r>
            <a:r>
              <a:rPr dirty="0" spc="75"/>
              <a:t>Patel,</a:t>
            </a:r>
            <a:r>
              <a:rPr dirty="0" spc="110"/>
              <a:t> </a:t>
            </a:r>
            <a:r>
              <a:rPr dirty="0" spc="60"/>
              <a:t>“Video</a:t>
            </a:r>
            <a:r>
              <a:rPr dirty="0" spc="110"/>
              <a:t> </a:t>
            </a:r>
            <a:r>
              <a:rPr dirty="0" spc="95"/>
              <a:t>summarization</a:t>
            </a:r>
            <a:r>
              <a:rPr dirty="0" spc="110"/>
              <a:t> </a:t>
            </a:r>
            <a:r>
              <a:rPr dirty="0" spc="100"/>
              <a:t>for</a:t>
            </a:r>
            <a:r>
              <a:rPr dirty="0" spc="110"/>
              <a:t> </a:t>
            </a:r>
            <a:r>
              <a:rPr dirty="0"/>
              <a:t>event-</a:t>
            </a:r>
            <a:r>
              <a:rPr dirty="0" spc="50"/>
              <a:t>centric</a:t>
            </a:r>
            <a:r>
              <a:rPr dirty="0" spc="110"/>
              <a:t> </a:t>
            </a:r>
            <a:r>
              <a:rPr dirty="0" spc="55"/>
              <a:t>videos,”</a:t>
            </a:r>
            <a:r>
              <a:rPr dirty="0" spc="114"/>
              <a:t> </a:t>
            </a:r>
            <a:r>
              <a:rPr dirty="0" spc="165"/>
              <a:t>IEEE</a:t>
            </a:r>
            <a:r>
              <a:rPr dirty="0" spc="110"/>
              <a:t> </a:t>
            </a:r>
            <a:r>
              <a:rPr dirty="0" spc="150"/>
              <a:t>TNNLS, </a:t>
            </a:r>
            <a:r>
              <a:rPr dirty="0"/>
              <a:t>vol.</a:t>
            </a:r>
            <a:r>
              <a:rPr dirty="0" spc="60"/>
              <a:t> </a:t>
            </a:r>
            <a:r>
              <a:rPr dirty="0"/>
              <a:t>34,</a:t>
            </a:r>
            <a:r>
              <a:rPr dirty="0" spc="60"/>
              <a:t> </a:t>
            </a:r>
            <a:r>
              <a:rPr dirty="0" spc="120"/>
              <a:t>no.</a:t>
            </a:r>
            <a:r>
              <a:rPr dirty="0" spc="60"/>
              <a:t> </a:t>
            </a:r>
            <a:r>
              <a:rPr dirty="0"/>
              <a:t>7,</a:t>
            </a:r>
            <a:r>
              <a:rPr dirty="0" spc="60"/>
              <a:t> </a:t>
            </a:r>
            <a:r>
              <a:rPr dirty="0" spc="120"/>
              <a:t>pp.</a:t>
            </a:r>
            <a:r>
              <a:rPr dirty="0" spc="60"/>
              <a:t> </a:t>
            </a:r>
            <a:r>
              <a:rPr dirty="0" spc="-10"/>
              <a:t>1126–</a:t>
            </a:r>
            <a:r>
              <a:rPr dirty="0"/>
              <a:t>1138,</a:t>
            </a:r>
            <a:r>
              <a:rPr dirty="0" spc="60"/>
              <a:t> </a:t>
            </a:r>
            <a:r>
              <a:rPr dirty="0" spc="-10"/>
              <a:t>2023.</a:t>
            </a:r>
          </a:p>
          <a:p>
            <a:pPr>
              <a:lnSpc>
                <a:spcPct val="100000"/>
              </a:lnSpc>
              <a:spcBef>
                <a:spcPts val="745"/>
              </a:spcBef>
              <a:buFont typeface="Times New Roman"/>
              <a:buAutoNum type="arabicPlain"/>
            </a:pPr>
          </a:p>
          <a:p>
            <a:pPr algn="just" marL="12700" marR="5080" indent="588645">
              <a:lnSpc>
                <a:spcPct val="115199"/>
              </a:lnSpc>
              <a:spcBef>
                <a:spcPts val="5"/>
              </a:spcBef>
              <a:buAutoNum type="arabicPlain"/>
              <a:tabLst>
                <a:tab pos="601345" algn="l"/>
              </a:tabLst>
            </a:pPr>
            <a:r>
              <a:rPr dirty="0" spc="185"/>
              <a:t>M.</a:t>
            </a:r>
            <a:r>
              <a:rPr dirty="0" spc="545"/>
              <a:t> </a:t>
            </a:r>
            <a:r>
              <a:rPr dirty="0" spc="165"/>
              <a:t>Gupta,</a:t>
            </a:r>
            <a:r>
              <a:rPr dirty="0" spc="550"/>
              <a:t> </a:t>
            </a:r>
            <a:r>
              <a:rPr dirty="0" spc="70"/>
              <a:t>et</a:t>
            </a:r>
            <a:r>
              <a:rPr dirty="0" spc="550"/>
              <a:t> </a:t>
            </a:r>
            <a:r>
              <a:rPr dirty="0" spc="65"/>
              <a:t>al,</a:t>
            </a:r>
            <a:r>
              <a:rPr dirty="0" spc="550"/>
              <a:t> </a:t>
            </a:r>
            <a:r>
              <a:rPr dirty="0" spc="110"/>
              <a:t>“AI-</a:t>
            </a:r>
            <a:r>
              <a:rPr dirty="0" spc="65"/>
              <a:t>driven</a:t>
            </a:r>
            <a:r>
              <a:rPr dirty="0" spc="550"/>
              <a:t> </a:t>
            </a:r>
            <a:r>
              <a:rPr dirty="0"/>
              <a:t>video</a:t>
            </a:r>
            <a:r>
              <a:rPr dirty="0" spc="550"/>
              <a:t> </a:t>
            </a:r>
            <a:r>
              <a:rPr dirty="0" spc="95"/>
              <a:t>summarization</a:t>
            </a:r>
            <a:r>
              <a:rPr dirty="0" spc="550"/>
              <a:t> </a:t>
            </a:r>
            <a:r>
              <a:rPr dirty="0" spc="100"/>
              <a:t>for</a:t>
            </a:r>
            <a:r>
              <a:rPr dirty="0" spc="550"/>
              <a:t> </a:t>
            </a:r>
            <a:r>
              <a:rPr dirty="0" spc="60"/>
              <a:t>optimizing</a:t>
            </a:r>
            <a:r>
              <a:rPr dirty="0" spc="550"/>
              <a:t> </a:t>
            </a:r>
            <a:r>
              <a:rPr dirty="0" spc="105"/>
              <a:t>content</a:t>
            </a:r>
            <a:r>
              <a:rPr dirty="0" spc="550"/>
              <a:t> </a:t>
            </a:r>
            <a:r>
              <a:rPr dirty="0" spc="50"/>
              <a:t>search </a:t>
            </a:r>
            <a:r>
              <a:rPr dirty="0" spc="160"/>
              <a:t>and</a:t>
            </a:r>
            <a:r>
              <a:rPr dirty="0" spc="40"/>
              <a:t> </a:t>
            </a:r>
            <a:r>
              <a:rPr dirty="0" spc="55"/>
              <a:t>retrieval</a:t>
            </a:r>
            <a:r>
              <a:rPr dirty="0" spc="40"/>
              <a:t> </a:t>
            </a:r>
            <a:r>
              <a:rPr dirty="0"/>
              <a:t>efficiency,”</a:t>
            </a:r>
            <a:r>
              <a:rPr dirty="0" spc="40"/>
              <a:t> </a:t>
            </a:r>
            <a:r>
              <a:rPr dirty="0"/>
              <a:t>Sci</a:t>
            </a:r>
            <a:r>
              <a:rPr dirty="0" spc="40"/>
              <a:t> </a:t>
            </a:r>
            <a:r>
              <a:rPr dirty="0" spc="125"/>
              <a:t>Rep,</a:t>
            </a:r>
            <a:r>
              <a:rPr dirty="0" spc="45"/>
              <a:t> </a:t>
            </a:r>
            <a:r>
              <a:rPr dirty="0"/>
              <a:t>vol.</a:t>
            </a:r>
            <a:r>
              <a:rPr dirty="0" spc="40"/>
              <a:t> </a:t>
            </a:r>
            <a:r>
              <a:rPr dirty="0"/>
              <a:t>15,</a:t>
            </a:r>
            <a:r>
              <a:rPr dirty="0" spc="40"/>
              <a:t> </a:t>
            </a:r>
            <a:r>
              <a:rPr dirty="0" spc="120"/>
              <a:t>no.</a:t>
            </a:r>
            <a:r>
              <a:rPr dirty="0" spc="40"/>
              <a:t> </a:t>
            </a:r>
            <a:r>
              <a:rPr dirty="0"/>
              <a:t>2,</a:t>
            </a:r>
            <a:r>
              <a:rPr dirty="0" spc="40"/>
              <a:t> </a:t>
            </a:r>
            <a:r>
              <a:rPr dirty="0" spc="120"/>
              <a:t>pp.</a:t>
            </a:r>
            <a:r>
              <a:rPr dirty="0" spc="45"/>
              <a:t> </a:t>
            </a:r>
            <a:r>
              <a:rPr dirty="0" spc="-10"/>
              <a:t>141–</a:t>
            </a:r>
            <a:r>
              <a:rPr dirty="0"/>
              <a:t>150,</a:t>
            </a:r>
            <a:r>
              <a:rPr dirty="0" spc="40"/>
              <a:t> </a:t>
            </a:r>
            <a:r>
              <a:rPr dirty="0" spc="-10"/>
              <a:t>2025.</a:t>
            </a:r>
          </a:p>
          <a:p>
            <a:pPr>
              <a:lnSpc>
                <a:spcPct val="100000"/>
              </a:lnSpc>
              <a:spcBef>
                <a:spcPts val="745"/>
              </a:spcBef>
              <a:buFont typeface="Times New Roman"/>
              <a:buAutoNum type="arabicPlain"/>
            </a:pPr>
          </a:p>
          <a:p>
            <a:pPr algn="just" marL="12700" marR="5080" indent="731520">
              <a:lnSpc>
                <a:spcPct val="115199"/>
              </a:lnSpc>
              <a:buAutoNum type="arabicPlain"/>
              <a:tabLst>
                <a:tab pos="744220" algn="l"/>
              </a:tabLst>
            </a:pPr>
            <a:r>
              <a:rPr dirty="0" spc="95"/>
              <a:t>Q.</a:t>
            </a:r>
            <a:r>
              <a:rPr dirty="0" spc="430"/>
              <a:t>  </a:t>
            </a:r>
            <a:r>
              <a:rPr dirty="0" spc="65"/>
              <a:t>Li,</a:t>
            </a:r>
            <a:r>
              <a:rPr dirty="0" spc="434"/>
              <a:t>  </a:t>
            </a:r>
            <a:r>
              <a:rPr dirty="0" spc="95"/>
              <a:t>A.</a:t>
            </a:r>
            <a:r>
              <a:rPr dirty="0" spc="434"/>
              <a:t>  </a:t>
            </a:r>
            <a:r>
              <a:rPr dirty="0" spc="110"/>
              <a:t>Tang,</a:t>
            </a:r>
            <a:r>
              <a:rPr dirty="0" spc="434"/>
              <a:t>  </a:t>
            </a:r>
            <a:r>
              <a:rPr dirty="0" spc="60"/>
              <a:t>“Video</a:t>
            </a:r>
            <a:r>
              <a:rPr dirty="0" spc="434"/>
              <a:t>  </a:t>
            </a:r>
            <a:r>
              <a:rPr dirty="0" spc="95"/>
              <a:t>summarization</a:t>
            </a:r>
            <a:r>
              <a:rPr dirty="0" spc="434"/>
              <a:t>  </a:t>
            </a:r>
            <a:r>
              <a:rPr dirty="0"/>
              <a:t>via</a:t>
            </a:r>
            <a:r>
              <a:rPr dirty="0" spc="434"/>
              <a:t>  </a:t>
            </a:r>
            <a:r>
              <a:rPr dirty="0" spc="45"/>
              <a:t>knowledge-</a:t>
            </a:r>
            <a:r>
              <a:rPr dirty="0" spc="85"/>
              <a:t>aware</a:t>
            </a:r>
            <a:r>
              <a:rPr dirty="0" spc="430"/>
              <a:t>  </a:t>
            </a:r>
            <a:r>
              <a:rPr dirty="0" spc="85"/>
              <a:t>multimodal </a:t>
            </a:r>
            <a:r>
              <a:rPr dirty="0" spc="90"/>
              <a:t>networks,”</a:t>
            </a:r>
            <a:r>
              <a:rPr dirty="0" spc="45"/>
              <a:t> </a:t>
            </a:r>
            <a:r>
              <a:rPr dirty="0" spc="100"/>
              <a:t>Inf</a:t>
            </a:r>
            <a:r>
              <a:rPr dirty="0" spc="50"/>
              <a:t> </a:t>
            </a:r>
            <a:r>
              <a:rPr dirty="0" spc="130"/>
              <a:t>Fus,</a:t>
            </a:r>
            <a:r>
              <a:rPr dirty="0" spc="50"/>
              <a:t> </a:t>
            </a:r>
            <a:r>
              <a:rPr dirty="0"/>
              <a:t>vol.</a:t>
            </a:r>
            <a:r>
              <a:rPr dirty="0" spc="50"/>
              <a:t> </a:t>
            </a:r>
            <a:r>
              <a:rPr dirty="0"/>
              <a:t>99,</a:t>
            </a:r>
            <a:r>
              <a:rPr dirty="0" spc="50"/>
              <a:t> </a:t>
            </a:r>
            <a:r>
              <a:rPr dirty="0" spc="120"/>
              <a:t>pp.</a:t>
            </a:r>
            <a:r>
              <a:rPr dirty="0" spc="45"/>
              <a:t> </a:t>
            </a:r>
            <a:r>
              <a:rPr dirty="0" spc="-10"/>
              <a:t>191–</a:t>
            </a:r>
            <a:r>
              <a:rPr dirty="0"/>
              <a:t>200,</a:t>
            </a:r>
            <a:r>
              <a:rPr dirty="0" spc="50"/>
              <a:t> </a:t>
            </a:r>
            <a:r>
              <a:rPr dirty="0" spc="-10"/>
              <a:t>2024.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4336603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6022528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7708453"/>
            <a:ext cx="95250" cy="9524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4971" rIns="0" bIns="0" rtlCol="0" vert="horz">
            <a:spAutoFit/>
          </a:bodyPr>
          <a:lstStyle/>
          <a:p>
            <a:pPr marL="165862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dirty="0" spc="-130"/>
              <a:t> </a:t>
            </a:r>
            <a:fld id="{81D60167-4931-47E6-BA6A-407CBD079E47}" type="slidenum">
              <a:rPr dirty="0" spc="-210"/>
              <a:t>10</a:t>
            </a:fld>
            <a:r>
              <a:rPr dirty="0" spc="-12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2088704"/>
            <a:ext cx="95250" cy="952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560705">
              <a:lnSpc>
                <a:spcPct val="115199"/>
              </a:lnSpc>
              <a:spcBef>
                <a:spcPts val="100"/>
              </a:spcBef>
              <a:buAutoNum type="arabicPlain" startAt="5"/>
              <a:tabLst>
                <a:tab pos="573405" algn="l"/>
              </a:tabLst>
            </a:pPr>
            <a:r>
              <a:rPr dirty="0" spc="95"/>
              <a:t>Y.</a:t>
            </a:r>
            <a:r>
              <a:rPr dirty="0" spc="320"/>
              <a:t> </a:t>
            </a:r>
            <a:r>
              <a:rPr dirty="0" spc="95"/>
              <a:t>Wang,</a:t>
            </a:r>
            <a:r>
              <a:rPr dirty="0" spc="325"/>
              <a:t> </a:t>
            </a:r>
            <a:r>
              <a:rPr dirty="0" spc="100"/>
              <a:t>J.</a:t>
            </a:r>
            <a:r>
              <a:rPr dirty="0" spc="320"/>
              <a:t> </a:t>
            </a:r>
            <a:r>
              <a:rPr dirty="0"/>
              <a:t>Lee,</a:t>
            </a:r>
            <a:r>
              <a:rPr dirty="0" spc="325"/>
              <a:t> </a:t>
            </a:r>
            <a:r>
              <a:rPr dirty="0" spc="100"/>
              <a:t>“Zero-</a:t>
            </a:r>
            <a:r>
              <a:rPr dirty="0" spc="110"/>
              <a:t>shot</a:t>
            </a:r>
            <a:r>
              <a:rPr dirty="0" spc="320"/>
              <a:t> </a:t>
            </a:r>
            <a:r>
              <a:rPr dirty="0"/>
              <a:t>scene</a:t>
            </a:r>
            <a:r>
              <a:rPr dirty="0" spc="325"/>
              <a:t> </a:t>
            </a:r>
            <a:r>
              <a:rPr dirty="0" spc="65"/>
              <a:t>change</a:t>
            </a:r>
            <a:r>
              <a:rPr dirty="0" spc="320"/>
              <a:t> </a:t>
            </a:r>
            <a:r>
              <a:rPr dirty="0" spc="80"/>
              <a:t>detection,”</a:t>
            </a:r>
            <a:r>
              <a:rPr dirty="0" spc="325"/>
              <a:t> </a:t>
            </a:r>
            <a:r>
              <a:rPr dirty="0" spc="60"/>
              <a:t>in</a:t>
            </a:r>
            <a:r>
              <a:rPr dirty="0" spc="325"/>
              <a:t> </a:t>
            </a:r>
            <a:r>
              <a:rPr dirty="0" spc="140"/>
              <a:t>AAAI</a:t>
            </a:r>
            <a:r>
              <a:rPr dirty="0" spc="320"/>
              <a:t> </a:t>
            </a:r>
            <a:r>
              <a:rPr dirty="0" spc="110"/>
              <a:t>Conf</a:t>
            </a:r>
            <a:r>
              <a:rPr dirty="0" spc="325"/>
              <a:t> </a:t>
            </a:r>
            <a:r>
              <a:rPr dirty="0" spc="85"/>
              <a:t>Artif</a:t>
            </a:r>
            <a:r>
              <a:rPr dirty="0" spc="320"/>
              <a:t> </a:t>
            </a:r>
            <a:r>
              <a:rPr dirty="0" spc="50"/>
              <a:t>Intell, </a:t>
            </a:r>
            <a:r>
              <a:rPr dirty="0" spc="160"/>
              <a:t>ACM,</a:t>
            </a:r>
            <a:r>
              <a:rPr dirty="0" spc="50"/>
              <a:t> </a:t>
            </a:r>
            <a:r>
              <a:rPr dirty="0"/>
              <a:t>vol.</a:t>
            </a:r>
            <a:r>
              <a:rPr dirty="0" spc="55"/>
              <a:t> </a:t>
            </a:r>
            <a:r>
              <a:rPr dirty="0"/>
              <a:t>39,</a:t>
            </a:r>
            <a:r>
              <a:rPr dirty="0" spc="50"/>
              <a:t> </a:t>
            </a:r>
            <a:r>
              <a:rPr dirty="0" spc="120"/>
              <a:t>no.</a:t>
            </a:r>
            <a:r>
              <a:rPr dirty="0" spc="55"/>
              <a:t> </a:t>
            </a:r>
            <a:r>
              <a:rPr dirty="0"/>
              <a:t>3,</a:t>
            </a:r>
            <a:r>
              <a:rPr dirty="0" spc="50"/>
              <a:t> </a:t>
            </a:r>
            <a:r>
              <a:rPr dirty="0" spc="120"/>
              <a:t>pp.</a:t>
            </a:r>
            <a:r>
              <a:rPr dirty="0" spc="55"/>
              <a:t> </a:t>
            </a:r>
            <a:r>
              <a:rPr dirty="0" spc="-10"/>
              <a:t>32253–</a:t>
            </a:r>
            <a:r>
              <a:rPr dirty="0"/>
              <a:t>32260,</a:t>
            </a:r>
            <a:r>
              <a:rPr dirty="0" spc="50"/>
              <a:t> </a:t>
            </a:r>
            <a:r>
              <a:rPr dirty="0" spc="-10"/>
              <a:t>2024.</a:t>
            </a:r>
          </a:p>
          <a:p>
            <a:pPr>
              <a:lnSpc>
                <a:spcPct val="100000"/>
              </a:lnSpc>
              <a:spcBef>
                <a:spcPts val="745"/>
              </a:spcBef>
              <a:buFont typeface="Times New Roman"/>
              <a:buAutoNum type="arabicPlain" startAt="5"/>
            </a:pPr>
          </a:p>
          <a:p>
            <a:pPr marL="12700" marR="5080" indent="656590">
              <a:lnSpc>
                <a:spcPct val="115199"/>
              </a:lnSpc>
              <a:buAutoNum type="arabicPlain" startAt="5"/>
              <a:tabLst>
                <a:tab pos="669290" algn="l"/>
              </a:tabLst>
            </a:pPr>
            <a:r>
              <a:rPr dirty="0" spc="90"/>
              <a:t>W.</a:t>
            </a:r>
            <a:r>
              <a:rPr dirty="0" spc="140"/>
              <a:t>  </a:t>
            </a:r>
            <a:r>
              <a:rPr dirty="0" spc="180"/>
              <a:t>Fan,</a:t>
            </a:r>
            <a:r>
              <a:rPr dirty="0" spc="140"/>
              <a:t>  </a:t>
            </a:r>
            <a:r>
              <a:rPr dirty="0" spc="100"/>
              <a:t>C.</a:t>
            </a:r>
            <a:r>
              <a:rPr dirty="0" spc="140"/>
              <a:t>  </a:t>
            </a:r>
            <a:r>
              <a:rPr dirty="0" spc="85"/>
              <a:t>Liu,</a:t>
            </a:r>
            <a:r>
              <a:rPr dirty="0" spc="140"/>
              <a:t>  </a:t>
            </a:r>
            <a:r>
              <a:rPr dirty="0"/>
              <a:t>“Scene</a:t>
            </a:r>
            <a:r>
              <a:rPr dirty="0" spc="140"/>
              <a:t>  </a:t>
            </a:r>
            <a:r>
              <a:rPr dirty="0" spc="60"/>
              <a:t>Object</a:t>
            </a:r>
            <a:r>
              <a:rPr dirty="0" spc="145"/>
              <a:t>  </a:t>
            </a:r>
            <a:r>
              <a:rPr dirty="0" spc="95"/>
              <a:t>Change</a:t>
            </a:r>
            <a:r>
              <a:rPr dirty="0" spc="140"/>
              <a:t>  </a:t>
            </a:r>
            <a:r>
              <a:rPr dirty="0" spc="90"/>
              <a:t>Detection</a:t>
            </a:r>
            <a:r>
              <a:rPr dirty="0" spc="140"/>
              <a:t>  </a:t>
            </a:r>
            <a:r>
              <a:rPr dirty="0" spc="160"/>
              <a:t>and</a:t>
            </a:r>
            <a:r>
              <a:rPr dirty="0" spc="140"/>
              <a:t>  </a:t>
            </a:r>
            <a:r>
              <a:rPr dirty="0" spc="85"/>
              <a:t>Fine-</a:t>
            </a:r>
            <a:r>
              <a:rPr dirty="0" spc="120"/>
              <a:t>Grained</a:t>
            </a:r>
            <a:r>
              <a:rPr dirty="0" spc="140"/>
              <a:t>  </a:t>
            </a:r>
            <a:r>
              <a:rPr dirty="0" spc="95"/>
              <a:t>Target </a:t>
            </a:r>
            <a:r>
              <a:rPr dirty="0" spc="90"/>
              <a:t>Recognition,”</a:t>
            </a:r>
            <a:r>
              <a:rPr dirty="0" spc="40"/>
              <a:t> </a:t>
            </a:r>
            <a:r>
              <a:rPr dirty="0" spc="195"/>
              <a:t>ACM</a:t>
            </a:r>
            <a:r>
              <a:rPr dirty="0" spc="45"/>
              <a:t> </a:t>
            </a:r>
            <a:r>
              <a:rPr dirty="0" spc="210"/>
              <a:t>TMM,</a:t>
            </a:r>
            <a:r>
              <a:rPr dirty="0" spc="45"/>
              <a:t> </a:t>
            </a:r>
            <a:r>
              <a:rPr dirty="0"/>
              <a:t>vol.</a:t>
            </a:r>
            <a:r>
              <a:rPr dirty="0" spc="45"/>
              <a:t> </a:t>
            </a:r>
            <a:r>
              <a:rPr dirty="0"/>
              <a:t>13,</a:t>
            </a:r>
            <a:r>
              <a:rPr dirty="0" spc="45"/>
              <a:t> </a:t>
            </a:r>
            <a:r>
              <a:rPr dirty="0" spc="120"/>
              <a:t>no.</a:t>
            </a:r>
            <a:r>
              <a:rPr dirty="0" spc="45"/>
              <a:t> </a:t>
            </a:r>
            <a:r>
              <a:rPr dirty="0"/>
              <a:t>2,</a:t>
            </a:r>
            <a:r>
              <a:rPr dirty="0" spc="45"/>
              <a:t> </a:t>
            </a:r>
            <a:r>
              <a:rPr dirty="0" spc="120"/>
              <a:t>pp.</a:t>
            </a:r>
            <a:r>
              <a:rPr dirty="0" spc="40"/>
              <a:t> </a:t>
            </a:r>
            <a:r>
              <a:rPr dirty="0" spc="-10"/>
              <a:t>1012–</a:t>
            </a:r>
            <a:r>
              <a:rPr dirty="0"/>
              <a:t>1024,</a:t>
            </a:r>
            <a:r>
              <a:rPr dirty="0" spc="45"/>
              <a:t> </a:t>
            </a:r>
            <a:r>
              <a:rPr dirty="0" spc="-10"/>
              <a:t>2024.</a:t>
            </a:r>
          </a:p>
          <a:p>
            <a:pPr>
              <a:lnSpc>
                <a:spcPct val="100000"/>
              </a:lnSpc>
              <a:spcBef>
                <a:spcPts val="745"/>
              </a:spcBef>
              <a:buFont typeface="Times New Roman"/>
              <a:buAutoNum type="arabicPlain" startAt="5"/>
            </a:pPr>
          </a:p>
          <a:p>
            <a:pPr marL="12700" marR="5080" indent="624205">
              <a:lnSpc>
                <a:spcPct val="115199"/>
              </a:lnSpc>
              <a:spcBef>
                <a:spcPts val="5"/>
              </a:spcBef>
              <a:buAutoNum type="arabicPlain" startAt="5"/>
              <a:tabLst>
                <a:tab pos="636905" algn="l"/>
              </a:tabLst>
            </a:pPr>
            <a:r>
              <a:rPr dirty="0" spc="100"/>
              <a:t>C.</a:t>
            </a:r>
            <a:r>
              <a:rPr dirty="0" spc="15"/>
              <a:t>  </a:t>
            </a:r>
            <a:r>
              <a:rPr dirty="0" spc="110"/>
              <a:t>Chang,</a:t>
            </a:r>
            <a:r>
              <a:rPr dirty="0" spc="15"/>
              <a:t>  </a:t>
            </a:r>
            <a:r>
              <a:rPr dirty="0" spc="114"/>
              <a:t>Z.</a:t>
            </a:r>
            <a:r>
              <a:rPr dirty="0" spc="15"/>
              <a:t>  </a:t>
            </a:r>
            <a:r>
              <a:rPr dirty="0" spc="85"/>
              <a:t>Liu,</a:t>
            </a:r>
            <a:r>
              <a:rPr dirty="0" spc="15"/>
              <a:t>  </a:t>
            </a:r>
            <a:r>
              <a:rPr dirty="0" spc="75"/>
              <a:t>“Advances</a:t>
            </a:r>
            <a:r>
              <a:rPr dirty="0" spc="15"/>
              <a:t>  </a:t>
            </a:r>
            <a:r>
              <a:rPr dirty="0" spc="60"/>
              <a:t>in</a:t>
            </a:r>
            <a:r>
              <a:rPr dirty="0" spc="20"/>
              <a:t>  </a:t>
            </a:r>
            <a:r>
              <a:rPr dirty="0"/>
              <a:t>Video</a:t>
            </a:r>
            <a:r>
              <a:rPr dirty="0" spc="15"/>
              <a:t>  </a:t>
            </a:r>
            <a:r>
              <a:rPr dirty="0" spc="125"/>
              <a:t>Emotion</a:t>
            </a:r>
            <a:r>
              <a:rPr dirty="0" spc="15"/>
              <a:t>  </a:t>
            </a:r>
            <a:r>
              <a:rPr dirty="0" spc="75"/>
              <a:t>Recognition:</a:t>
            </a:r>
            <a:r>
              <a:rPr dirty="0" spc="15"/>
              <a:t>  </a:t>
            </a:r>
            <a:r>
              <a:rPr dirty="0" spc="45"/>
              <a:t>Challenges</a:t>
            </a:r>
            <a:r>
              <a:rPr dirty="0" spc="15"/>
              <a:t>  </a:t>
            </a:r>
            <a:r>
              <a:rPr dirty="0" spc="135"/>
              <a:t>and </a:t>
            </a:r>
            <a:r>
              <a:rPr dirty="0" spc="70"/>
              <a:t>Progress,”</a:t>
            </a:r>
            <a:r>
              <a:rPr dirty="0" spc="55"/>
              <a:t> </a:t>
            </a:r>
            <a:r>
              <a:rPr dirty="0" spc="165"/>
              <a:t>IEEE</a:t>
            </a:r>
            <a:r>
              <a:rPr dirty="0" spc="60"/>
              <a:t> </a:t>
            </a:r>
            <a:r>
              <a:rPr dirty="0" spc="120"/>
              <a:t>Trans</a:t>
            </a:r>
            <a:r>
              <a:rPr dirty="0" spc="60"/>
              <a:t> </a:t>
            </a:r>
            <a:r>
              <a:rPr dirty="0"/>
              <a:t>Affect</a:t>
            </a:r>
            <a:r>
              <a:rPr dirty="0" spc="60"/>
              <a:t> </a:t>
            </a:r>
            <a:r>
              <a:rPr dirty="0" spc="135"/>
              <a:t>Comput,</a:t>
            </a:r>
            <a:r>
              <a:rPr dirty="0" spc="60"/>
              <a:t> </a:t>
            </a:r>
            <a:r>
              <a:rPr dirty="0"/>
              <a:t>vol.</a:t>
            </a:r>
            <a:r>
              <a:rPr dirty="0" spc="60"/>
              <a:t> </a:t>
            </a:r>
            <a:r>
              <a:rPr dirty="0"/>
              <a:t>16,</a:t>
            </a:r>
            <a:r>
              <a:rPr dirty="0" spc="60"/>
              <a:t> </a:t>
            </a:r>
            <a:r>
              <a:rPr dirty="0" spc="120"/>
              <a:t>no.</a:t>
            </a:r>
            <a:r>
              <a:rPr dirty="0" spc="60"/>
              <a:t> </a:t>
            </a:r>
            <a:r>
              <a:rPr dirty="0"/>
              <a:t>4,</a:t>
            </a:r>
            <a:r>
              <a:rPr dirty="0" spc="60"/>
              <a:t> </a:t>
            </a:r>
            <a:r>
              <a:rPr dirty="0" spc="120"/>
              <a:t>pp.</a:t>
            </a:r>
            <a:r>
              <a:rPr dirty="0" spc="60"/>
              <a:t> </a:t>
            </a:r>
            <a:r>
              <a:rPr dirty="0" spc="-10"/>
              <a:t>360–</a:t>
            </a:r>
            <a:r>
              <a:rPr dirty="0"/>
              <a:t>373,</a:t>
            </a:r>
            <a:r>
              <a:rPr dirty="0" spc="60"/>
              <a:t> </a:t>
            </a:r>
            <a:r>
              <a:rPr dirty="0" spc="-10"/>
              <a:t>2025.</a:t>
            </a:r>
          </a:p>
          <a:p>
            <a:pPr>
              <a:lnSpc>
                <a:spcPct val="100000"/>
              </a:lnSpc>
              <a:spcBef>
                <a:spcPts val="745"/>
              </a:spcBef>
              <a:buFont typeface="Times New Roman"/>
              <a:buAutoNum type="arabicPlain" startAt="5"/>
            </a:pPr>
          </a:p>
          <a:p>
            <a:pPr marL="12700" marR="5080" indent="593725">
              <a:lnSpc>
                <a:spcPct val="115199"/>
              </a:lnSpc>
              <a:buAutoNum type="arabicPlain" startAt="5"/>
              <a:tabLst>
                <a:tab pos="606425" algn="l"/>
              </a:tabLst>
            </a:pPr>
            <a:r>
              <a:rPr dirty="0" spc="204"/>
              <a:t>F.</a:t>
            </a:r>
            <a:r>
              <a:rPr dirty="0" spc="580"/>
              <a:t> </a:t>
            </a:r>
            <a:r>
              <a:rPr dirty="0"/>
              <a:t>Silva,</a:t>
            </a:r>
            <a:r>
              <a:rPr dirty="0" spc="590"/>
              <a:t> </a:t>
            </a:r>
            <a:r>
              <a:rPr dirty="0" spc="185"/>
              <a:t>R.</a:t>
            </a:r>
            <a:r>
              <a:rPr dirty="0" spc="585"/>
              <a:t> </a:t>
            </a:r>
            <a:r>
              <a:rPr dirty="0" spc="175"/>
              <a:t>Rao,</a:t>
            </a:r>
            <a:r>
              <a:rPr dirty="0" spc="585"/>
              <a:t> </a:t>
            </a:r>
            <a:r>
              <a:rPr dirty="0" spc="114"/>
              <a:t>“Multimodal</a:t>
            </a:r>
            <a:r>
              <a:rPr dirty="0" spc="585"/>
              <a:t> </a:t>
            </a:r>
            <a:r>
              <a:rPr dirty="0" spc="125"/>
              <a:t>Emotion</a:t>
            </a:r>
            <a:r>
              <a:rPr dirty="0" spc="585"/>
              <a:t> </a:t>
            </a:r>
            <a:r>
              <a:rPr dirty="0" spc="85"/>
              <a:t>Recognition</a:t>
            </a:r>
            <a:r>
              <a:rPr dirty="0" spc="585"/>
              <a:t> </a:t>
            </a:r>
            <a:r>
              <a:rPr dirty="0" spc="65"/>
              <a:t>with</a:t>
            </a:r>
            <a:r>
              <a:rPr dirty="0" spc="585"/>
              <a:t> </a:t>
            </a:r>
            <a:r>
              <a:rPr dirty="0" spc="95"/>
              <a:t>Deep</a:t>
            </a:r>
            <a:r>
              <a:rPr dirty="0" spc="585"/>
              <a:t> </a:t>
            </a:r>
            <a:r>
              <a:rPr dirty="0" spc="95"/>
              <a:t>Learning,”</a:t>
            </a:r>
            <a:r>
              <a:rPr dirty="0" spc="585"/>
              <a:t> </a:t>
            </a:r>
            <a:r>
              <a:rPr dirty="0" spc="75"/>
              <a:t>Inf </a:t>
            </a:r>
            <a:r>
              <a:rPr dirty="0" spc="114"/>
              <a:t>Fusion,</a:t>
            </a:r>
            <a:r>
              <a:rPr dirty="0" spc="60"/>
              <a:t> </a:t>
            </a:r>
            <a:r>
              <a:rPr dirty="0"/>
              <a:t>vol.</a:t>
            </a:r>
            <a:r>
              <a:rPr dirty="0" spc="60"/>
              <a:t> </a:t>
            </a:r>
            <a:r>
              <a:rPr dirty="0"/>
              <a:t>79,</a:t>
            </a:r>
            <a:r>
              <a:rPr dirty="0" spc="60"/>
              <a:t> </a:t>
            </a:r>
            <a:r>
              <a:rPr dirty="0" spc="120"/>
              <a:t>pp.</a:t>
            </a:r>
            <a:r>
              <a:rPr dirty="0" spc="65"/>
              <a:t> </a:t>
            </a:r>
            <a:r>
              <a:rPr dirty="0" spc="-10"/>
              <a:t>33–</a:t>
            </a:r>
            <a:r>
              <a:rPr dirty="0"/>
              <a:t>44,</a:t>
            </a:r>
            <a:r>
              <a:rPr dirty="0" spc="60"/>
              <a:t> </a:t>
            </a:r>
            <a:r>
              <a:rPr dirty="0" spc="-10"/>
              <a:t>2024.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3774629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5460553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7146478"/>
            <a:ext cx="95250" cy="9524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4971" rIns="0" bIns="0" rtlCol="0" vert="horz">
            <a:spAutoFit/>
          </a:bodyPr>
          <a:lstStyle/>
          <a:p>
            <a:pPr marL="165862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dirty="0" spc="-130"/>
              <a:t> </a:t>
            </a:r>
            <a:fld id="{81D60167-4931-47E6-BA6A-407CBD079E47}" type="slidenum">
              <a:rPr dirty="0" spc="-210"/>
              <a:t>10</a:t>
            </a:fld>
            <a:r>
              <a:rPr dirty="0" spc="-12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2088704"/>
            <a:ext cx="95250" cy="952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26745">
              <a:lnSpc>
                <a:spcPct val="115199"/>
              </a:lnSpc>
              <a:spcBef>
                <a:spcPts val="100"/>
              </a:spcBef>
              <a:buAutoNum type="arabicPlain" startAt="9"/>
              <a:tabLst>
                <a:tab pos="639445" algn="l"/>
              </a:tabLst>
            </a:pPr>
            <a:r>
              <a:rPr dirty="0" spc="175"/>
              <a:t>D.</a:t>
            </a:r>
            <a:r>
              <a:rPr dirty="0" spc="10"/>
              <a:t>  </a:t>
            </a:r>
            <a:r>
              <a:rPr dirty="0" spc="110"/>
              <a:t>Wu,</a:t>
            </a:r>
            <a:r>
              <a:rPr dirty="0" spc="15"/>
              <a:t>  </a:t>
            </a:r>
            <a:r>
              <a:rPr dirty="0"/>
              <a:t>S.</a:t>
            </a:r>
            <a:r>
              <a:rPr dirty="0" spc="15"/>
              <a:t>  </a:t>
            </a:r>
            <a:r>
              <a:rPr dirty="0" spc="135"/>
              <a:t>Zhou,</a:t>
            </a:r>
            <a:r>
              <a:rPr dirty="0" spc="15"/>
              <a:t>  </a:t>
            </a:r>
            <a:r>
              <a:rPr dirty="0" spc="85"/>
              <a:t>“Applications</a:t>
            </a:r>
            <a:r>
              <a:rPr dirty="0" spc="15"/>
              <a:t>  </a:t>
            </a:r>
            <a:r>
              <a:rPr dirty="0" spc="160"/>
              <a:t>and</a:t>
            </a:r>
            <a:r>
              <a:rPr dirty="0" spc="15"/>
              <a:t>  </a:t>
            </a:r>
            <a:r>
              <a:rPr dirty="0" spc="55"/>
              <a:t>Reliability</a:t>
            </a:r>
            <a:r>
              <a:rPr dirty="0" spc="15"/>
              <a:t>  </a:t>
            </a:r>
            <a:r>
              <a:rPr dirty="0" spc="75"/>
              <a:t>of</a:t>
            </a:r>
            <a:r>
              <a:rPr dirty="0" spc="15"/>
              <a:t>  </a:t>
            </a:r>
            <a:r>
              <a:rPr dirty="0" spc="110"/>
              <a:t>Automatic</a:t>
            </a:r>
            <a:r>
              <a:rPr dirty="0" spc="15"/>
              <a:t>  </a:t>
            </a:r>
            <a:r>
              <a:rPr dirty="0" spc="95"/>
              <a:t>Facial</a:t>
            </a:r>
            <a:r>
              <a:rPr dirty="0" spc="15"/>
              <a:t>  </a:t>
            </a:r>
            <a:r>
              <a:rPr dirty="0" spc="114"/>
              <a:t>Emotion </a:t>
            </a:r>
            <a:r>
              <a:rPr dirty="0" spc="85"/>
              <a:t>Recognition</a:t>
            </a:r>
            <a:r>
              <a:rPr dirty="0" spc="50"/>
              <a:t> </a:t>
            </a:r>
            <a:r>
              <a:rPr dirty="0" spc="60"/>
              <a:t>in</a:t>
            </a:r>
            <a:r>
              <a:rPr dirty="0" spc="55"/>
              <a:t> </a:t>
            </a:r>
            <a:r>
              <a:rPr dirty="0"/>
              <a:t>Video</a:t>
            </a:r>
            <a:r>
              <a:rPr dirty="0" spc="50"/>
              <a:t> </a:t>
            </a:r>
            <a:r>
              <a:rPr dirty="0" spc="55"/>
              <a:t>Analysis,” </a:t>
            </a:r>
            <a:r>
              <a:rPr dirty="0" spc="195"/>
              <a:t>ACM</a:t>
            </a:r>
            <a:r>
              <a:rPr dirty="0" spc="50"/>
              <a:t> </a:t>
            </a:r>
            <a:r>
              <a:rPr dirty="0" spc="210"/>
              <a:t>TMM,</a:t>
            </a:r>
            <a:r>
              <a:rPr dirty="0" spc="55"/>
              <a:t> </a:t>
            </a:r>
            <a:r>
              <a:rPr dirty="0"/>
              <a:t>vol.</a:t>
            </a:r>
            <a:r>
              <a:rPr dirty="0" spc="50"/>
              <a:t> </a:t>
            </a:r>
            <a:r>
              <a:rPr dirty="0"/>
              <a:t>24,</a:t>
            </a:r>
            <a:r>
              <a:rPr dirty="0" spc="55"/>
              <a:t> </a:t>
            </a:r>
            <a:r>
              <a:rPr dirty="0" spc="120"/>
              <a:t>no.</a:t>
            </a:r>
            <a:r>
              <a:rPr dirty="0" spc="50"/>
              <a:t> </a:t>
            </a:r>
            <a:r>
              <a:rPr dirty="0"/>
              <a:t>5,</a:t>
            </a:r>
            <a:r>
              <a:rPr dirty="0" spc="55"/>
              <a:t> </a:t>
            </a:r>
            <a:r>
              <a:rPr dirty="0" spc="120"/>
              <a:t>pp.</a:t>
            </a:r>
            <a:r>
              <a:rPr dirty="0" spc="50"/>
              <a:t> </a:t>
            </a:r>
            <a:r>
              <a:rPr dirty="0" spc="-10"/>
              <a:t>452–</a:t>
            </a:r>
            <a:r>
              <a:rPr dirty="0"/>
              <a:t>463,</a:t>
            </a:r>
            <a:r>
              <a:rPr dirty="0" spc="55"/>
              <a:t> </a:t>
            </a:r>
            <a:r>
              <a:rPr dirty="0" spc="-20"/>
              <a:t>2024.</a:t>
            </a:r>
          </a:p>
          <a:p>
            <a:pPr>
              <a:lnSpc>
                <a:spcPct val="100000"/>
              </a:lnSpc>
              <a:spcBef>
                <a:spcPts val="745"/>
              </a:spcBef>
              <a:buFont typeface="Times New Roman"/>
              <a:buAutoNum type="arabicPlain" startAt="9"/>
            </a:pPr>
          </a:p>
          <a:p>
            <a:pPr algn="just" marL="12700" marR="5080" indent="871855">
              <a:lnSpc>
                <a:spcPct val="115199"/>
              </a:lnSpc>
              <a:buAutoNum type="arabicPlain" startAt="9"/>
              <a:tabLst>
                <a:tab pos="884555" algn="l"/>
              </a:tabLst>
            </a:pPr>
            <a:r>
              <a:rPr dirty="0" spc="114"/>
              <a:t>T.</a:t>
            </a:r>
            <a:r>
              <a:rPr dirty="0" spc="114"/>
              <a:t> </a:t>
            </a:r>
            <a:r>
              <a:rPr dirty="0" spc="135"/>
              <a:t>Park,</a:t>
            </a:r>
            <a:r>
              <a:rPr dirty="0" spc="135"/>
              <a:t> </a:t>
            </a:r>
            <a:r>
              <a:rPr dirty="0"/>
              <a:t>S. </a:t>
            </a:r>
            <a:r>
              <a:rPr dirty="0" spc="110"/>
              <a:t>Kim,</a:t>
            </a:r>
            <a:r>
              <a:rPr dirty="0" spc="110"/>
              <a:t> </a:t>
            </a:r>
            <a:r>
              <a:rPr dirty="0" spc="130"/>
              <a:t>“Emotion</a:t>
            </a:r>
            <a:r>
              <a:rPr dirty="0" spc="130"/>
              <a:t> </a:t>
            </a:r>
            <a:r>
              <a:rPr dirty="0" spc="85"/>
              <a:t>Recognition</a:t>
            </a:r>
            <a:r>
              <a:rPr dirty="0" spc="85"/>
              <a:t> </a:t>
            </a:r>
            <a:r>
              <a:rPr dirty="0"/>
              <a:t>using </a:t>
            </a:r>
            <a:r>
              <a:rPr dirty="0" spc="60"/>
              <a:t>multi-</a:t>
            </a:r>
            <a:r>
              <a:rPr dirty="0" spc="110"/>
              <a:t>modal</a:t>
            </a:r>
            <a:r>
              <a:rPr dirty="0" spc="110"/>
              <a:t> </a:t>
            </a:r>
            <a:r>
              <a:rPr dirty="0" spc="165"/>
              <a:t>data</a:t>
            </a:r>
            <a:r>
              <a:rPr dirty="0" spc="165"/>
              <a:t> </a:t>
            </a:r>
            <a:r>
              <a:rPr dirty="0" spc="160"/>
              <a:t>and</a:t>
            </a:r>
            <a:r>
              <a:rPr dirty="0" spc="160"/>
              <a:t> </a:t>
            </a:r>
            <a:r>
              <a:rPr dirty="0" spc="-20"/>
              <a:t>self-</a:t>
            </a:r>
            <a:r>
              <a:rPr dirty="0" spc="45"/>
              <a:t>supervised</a:t>
            </a:r>
            <a:r>
              <a:rPr dirty="0" spc="35"/>
              <a:t> </a:t>
            </a:r>
            <a:r>
              <a:rPr dirty="0" spc="75"/>
              <a:t>learning,”</a:t>
            </a:r>
            <a:r>
              <a:rPr dirty="0" spc="40"/>
              <a:t> </a:t>
            </a:r>
            <a:r>
              <a:rPr dirty="0" spc="195"/>
              <a:t>ACM</a:t>
            </a:r>
            <a:r>
              <a:rPr dirty="0" spc="35"/>
              <a:t> </a:t>
            </a:r>
            <a:r>
              <a:rPr dirty="0" spc="210"/>
              <a:t>TMM,</a:t>
            </a:r>
            <a:r>
              <a:rPr dirty="0" spc="40"/>
              <a:t> </a:t>
            </a:r>
            <a:r>
              <a:rPr dirty="0"/>
              <a:t>vol.</a:t>
            </a:r>
            <a:r>
              <a:rPr dirty="0" spc="40"/>
              <a:t> </a:t>
            </a:r>
            <a:r>
              <a:rPr dirty="0"/>
              <a:t>31,</a:t>
            </a:r>
            <a:r>
              <a:rPr dirty="0" spc="35"/>
              <a:t> </a:t>
            </a:r>
            <a:r>
              <a:rPr dirty="0" spc="120"/>
              <a:t>no.</a:t>
            </a:r>
            <a:r>
              <a:rPr dirty="0" spc="40"/>
              <a:t> </a:t>
            </a:r>
            <a:r>
              <a:rPr dirty="0"/>
              <a:t>2,</a:t>
            </a:r>
            <a:r>
              <a:rPr dirty="0" spc="35"/>
              <a:t> </a:t>
            </a:r>
            <a:r>
              <a:rPr dirty="0" spc="120"/>
              <a:t>pp.</a:t>
            </a:r>
            <a:r>
              <a:rPr dirty="0" spc="40"/>
              <a:t> </a:t>
            </a:r>
            <a:r>
              <a:rPr dirty="0" spc="-10"/>
              <a:t>339–</a:t>
            </a:r>
            <a:r>
              <a:rPr dirty="0"/>
              <a:t>347,</a:t>
            </a:r>
            <a:r>
              <a:rPr dirty="0" spc="40"/>
              <a:t> </a:t>
            </a:r>
            <a:r>
              <a:rPr dirty="0" spc="-10"/>
              <a:t>2024.</a:t>
            </a:r>
          </a:p>
          <a:p>
            <a:pPr>
              <a:lnSpc>
                <a:spcPct val="100000"/>
              </a:lnSpc>
              <a:spcBef>
                <a:spcPts val="745"/>
              </a:spcBef>
              <a:buFont typeface="Times New Roman"/>
              <a:buAutoNum type="arabicPlain" startAt="9"/>
            </a:pPr>
          </a:p>
          <a:p>
            <a:pPr algn="just" marL="12700" marR="5080" indent="925830">
              <a:lnSpc>
                <a:spcPct val="115199"/>
              </a:lnSpc>
              <a:spcBef>
                <a:spcPts val="5"/>
              </a:spcBef>
              <a:buAutoNum type="arabicPlain" startAt="9"/>
              <a:tabLst>
                <a:tab pos="938530" algn="l"/>
              </a:tabLst>
            </a:pPr>
            <a:r>
              <a:rPr dirty="0" spc="60"/>
              <a:t>JS.</a:t>
            </a:r>
            <a:r>
              <a:rPr dirty="0" spc="395"/>
              <a:t>  </a:t>
            </a:r>
            <a:r>
              <a:rPr dirty="0" spc="75"/>
              <a:t>Agarwal,</a:t>
            </a:r>
            <a:r>
              <a:rPr dirty="0" spc="395"/>
              <a:t>  </a:t>
            </a:r>
            <a:r>
              <a:rPr dirty="0" spc="175"/>
              <a:t>H.</a:t>
            </a:r>
            <a:r>
              <a:rPr dirty="0" spc="395"/>
              <a:t>  </a:t>
            </a:r>
            <a:r>
              <a:rPr dirty="0" spc="50"/>
              <a:t>Singh,</a:t>
            </a:r>
            <a:r>
              <a:rPr dirty="0" spc="395"/>
              <a:t>  </a:t>
            </a:r>
            <a:r>
              <a:rPr dirty="0" spc="114"/>
              <a:t>“Real</a:t>
            </a:r>
            <a:r>
              <a:rPr dirty="0" spc="400"/>
              <a:t>  </a:t>
            </a:r>
            <a:r>
              <a:rPr dirty="0" spc="55"/>
              <a:t>Time</a:t>
            </a:r>
            <a:r>
              <a:rPr dirty="0" spc="395"/>
              <a:t>  </a:t>
            </a:r>
            <a:r>
              <a:rPr dirty="0" spc="125"/>
              <a:t>Emotion</a:t>
            </a:r>
            <a:r>
              <a:rPr dirty="0" spc="395"/>
              <a:t>  </a:t>
            </a:r>
            <a:r>
              <a:rPr dirty="0" spc="85"/>
              <a:t>Recognition</a:t>
            </a:r>
            <a:r>
              <a:rPr dirty="0" spc="395"/>
              <a:t>  </a:t>
            </a:r>
            <a:r>
              <a:rPr dirty="0" spc="75"/>
              <a:t>Using</a:t>
            </a:r>
            <a:r>
              <a:rPr dirty="0" spc="395"/>
              <a:t>  </a:t>
            </a:r>
            <a:r>
              <a:rPr dirty="0" spc="60"/>
              <a:t>Image Classification,”</a:t>
            </a:r>
            <a:r>
              <a:rPr dirty="0" spc="15"/>
              <a:t> </a:t>
            </a:r>
            <a:r>
              <a:rPr dirty="0" spc="160"/>
              <a:t>ACM,</a:t>
            </a:r>
            <a:r>
              <a:rPr dirty="0" spc="15"/>
              <a:t> </a:t>
            </a:r>
            <a:r>
              <a:rPr dirty="0" spc="130"/>
              <a:t>ICIP,</a:t>
            </a:r>
            <a:r>
              <a:rPr dirty="0" spc="15"/>
              <a:t> </a:t>
            </a:r>
            <a:r>
              <a:rPr dirty="0" spc="120"/>
              <a:t>pp.</a:t>
            </a:r>
            <a:r>
              <a:rPr dirty="0" spc="15"/>
              <a:t> </a:t>
            </a:r>
            <a:r>
              <a:rPr dirty="0" spc="-10"/>
              <a:t>276–</a:t>
            </a:r>
            <a:r>
              <a:rPr dirty="0"/>
              <a:t>285,</a:t>
            </a:r>
            <a:r>
              <a:rPr dirty="0" spc="15"/>
              <a:t> </a:t>
            </a:r>
            <a:r>
              <a:rPr dirty="0" spc="-10"/>
              <a:t>2023.</a:t>
            </a:r>
          </a:p>
          <a:p>
            <a:pPr>
              <a:lnSpc>
                <a:spcPct val="100000"/>
              </a:lnSpc>
              <a:spcBef>
                <a:spcPts val="745"/>
              </a:spcBef>
              <a:buFont typeface="Times New Roman"/>
              <a:buAutoNum type="arabicPlain" startAt="9"/>
            </a:pPr>
          </a:p>
          <a:p>
            <a:pPr algn="just" marL="12700" marR="5080" indent="772160">
              <a:lnSpc>
                <a:spcPct val="115199"/>
              </a:lnSpc>
              <a:buAutoNum type="arabicPlain" startAt="9"/>
              <a:tabLst>
                <a:tab pos="784860" algn="l"/>
              </a:tabLst>
            </a:pPr>
            <a:r>
              <a:rPr dirty="0" spc="175"/>
              <a:t>H.</a:t>
            </a:r>
            <a:r>
              <a:rPr dirty="0" spc="395"/>
              <a:t> </a:t>
            </a:r>
            <a:r>
              <a:rPr dirty="0" spc="170"/>
              <a:t>Gu,</a:t>
            </a:r>
            <a:r>
              <a:rPr dirty="0" spc="400"/>
              <a:t> </a:t>
            </a:r>
            <a:r>
              <a:rPr dirty="0"/>
              <a:t>S.</a:t>
            </a:r>
            <a:r>
              <a:rPr dirty="0" spc="395"/>
              <a:t> </a:t>
            </a:r>
            <a:r>
              <a:rPr dirty="0" spc="65"/>
              <a:t>Petrangeli</a:t>
            </a:r>
            <a:r>
              <a:rPr dirty="0" spc="400"/>
              <a:t> </a:t>
            </a:r>
            <a:r>
              <a:rPr dirty="0" spc="160"/>
              <a:t>and</a:t>
            </a:r>
            <a:r>
              <a:rPr dirty="0" spc="400"/>
              <a:t> </a:t>
            </a:r>
            <a:r>
              <a:rPr dirty="0"/>
              <a:t>V.</a:t>
            </a:r>
            <a:r>
              <a:rPr dirty="0" spc="395"/>
              <a:t> </a:t>
            </a:r>
            <a:r>
              <a:rPr dirty="0" spc="100"/>
              <a:t>Swaminathan,</a:t>
            </a:r>
            <a:r>
              <a:rPr dirty="0" spc="400"/>
              <a:t> </a:t>
            </a:r>
            <a:r>
              <a:rPr dirty="0" spc="60"/>
              <a:t>"SumBot:</a:t>
            </a:r>
            <a:r>
              <a:rPr dirty="0" spc="395"/>
              <a:t> </a:t>
            </a:r>
            <a:r>
              <a:rPr dirty="0" spc="65"/>
              <a:t>Summarize</a:t>
            </a:r>
            <a:r>
              <a:rPr dirty="0" spc="400"/>
              <a:t> </a:t>
            </a:r>
            <a:r>
              <a:rPr dirty="0"/>
              <a:t>Videos</a:t>
            </a:r>
            <a:r>
              <a:rPr dirty="0" spc="400"/>
              <a:t> </a:t>
            </a:r>
            <a:r>
              <a:rPr dirty="0" spc="65"/>
              <a:t>Like</a:t>
            </a:r>
            <a:r>
              <a:rPr dirty="0" spc="395"/>
              <a:t> </a:t>
            </a:r>
            <a:r>
              <a:rPr dirty="0" spc="120"/>
              <a:t>a </a:t>
            </a:r>
            <a:r>
              <a:rPr dirty="0" spc="130"/>
              <a:t>Human,"</a:t>
            </a:r>
            <a:r>
              <a:rPr dirty="0" spc="405"/>
              <a:t> </a:t>
            </a:r>
            <a:r>
              <a:rPr dirty="0"/>
              <a:t>2020</a:t>
            </a:r>
            <a:r>
              <a:rPr dirty="0" spc="405"/>
              <a:t> </a:t>
            </a:r>
            <a:r>
              <a:rPr dirty="0" spc="165"/>
              <a:t>IEEE</a:t>
            </a:r>
            <a:r>
              <a:rPr dirty="0" spc="409"/>
              <a:t> </a:t>
            </a:r>
            <a:r>
              <a:rPr dirty="0" spc="114"/>
              <a:t>International</a:t>
            </a:r>
            <a:r>
              <a:rPr dirty="0" spc="405"/>
              <a:t> </a:t>
            </a:r>
            <a:r>
              <a:rPr dirty="0" spc="65"/>
              <a:t>Symposium</a:t>
            </a:r>
            <a:r>
              <a:rPr dirty="0" spc="409"/>
              <a:t> </a:t>
            </a:r>
            <a:r>
              <a:rPr dirty="0" spc="155"/>
              <a:t>on</a:t>
            </a:r>
            <a:r>
              <a:rPr dirty="0" spc="405"/>
              <a:t> </a:t>
            </a:r>
            <a:r>
              <a:rPr dirty="0" spc="95"/>
              <a:t>Multimedia</a:t>
            </a:r>
            <a:r>
              <a:rPr dirty="0" spc="409"/>
              <a:t> </a:t>
            </a:r>
            <a:r>
              <a:rPr dirty="0" spc="80"/>
              <a:t>(ISM),</a:t>
            </a:r>
            <a:r>
              <a:rPr dirty="0" spc="405"/>
              <a:t> </a:t>
            </a:r>
            <a:r>
              <a:rPr dirty="0" spc="80"/>
              <a:t>Naples,</a:t>
            </a:r>
            <a:r>
              <a:rPr dirty="0" spc="409"/>
              <a:t> </a:t>
            </a:r>
            <a:r>
              <a:rPr dirty="0" spc="75"/>
              <a:t>Italy, </a:t>
            </a:r>
            <a:r>
              <a:rPr dirty="0"/>
              <a:t>2020,</a:t>
            </a:r>
            <a:r>
              <a:rPr dirty="0" spc="30"/>
              <a:t> </a:t>
            </a:r>
            <a:r>
              <a:rPr dirty="0" spc="120"/>
              <a:t>pp.</a:t>
            </a:r>
            <a:r>
              <a:rPr dirty="0" spc="35"/>
              <a:t> </a:t>
            </a:r>
            <a:r>
              <a:rPr dirty="0" spc="-10"/>
              <a:t>210-</a:t>
            </a:r>
            <a:r>
              <a:rPr dirty="0" spc="-20"/>
              <a:t>217.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3774629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5460553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49" y="7146478"/>
            <a:ext cx="95250" cy="9524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4971" rIns="0" bIns="0" rtlCol="0" vert="horz">
            <a:spAutoFit/>
          </a:bodyPr>
          <a:lstStyle/>
          <a:p>
            <a:pPr marL="165862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dirty="0" spc="-130"/>
              <a:t> </a:t>
            </a:r>
            <a:fld id="{81D60167-4931-47E6-BA6A-407CBD079E47}" type="slidenum">
              <a:rPr dirty="0" spc="-210"/>
              <a:t>10</a:t>
            </a:fld>
            <a:r>
              <a:rPr dirty="0" spc="-12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7071" y="3337559"/>
            <a:ext cx="8772143" cy="190195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38803" y="3458219"/>
            <a:ext cx="7810500" cy="1457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400" spc="710" b="0">
                <a:solidFill>
                  <a:srgbClr val="0049AB"/>
                </a:solidFill>
                <a:latin typeface="Times New Roman"/>
                <a:cs typeface="Times New Roman"/>
              </a:rPr>
              <a:t>THANK</a:t>
            </a:r>
            <a:r>
              <a:rPr dirty="0" sz="9400" spc="-5" b="0">
                <a:solidFill>
                  <a:srgbClr val="0049AB"/>
                </a:solidFill>
                <a:latin typeface="Times New Roman"/>
                <a:cs typeface="Times New Roman"/>
              </a:rPr>
              <a:t> </a:t>
            </a:r>
            <a:r>
              <a:rPr dirty="0" sz="9400" spc="535" b="0">
                <a:solidFill>
                  <a:srgbClr val="0049AB"/>
                </a:solidFill>
                <a:latin typeface="Times New Roman"/>
                <a:cs typeface="Times New Roman"/>
              </a:rPr>
              <a:t>YOU</a:t>
            </a:r>
            <a:endParaRPr sz="9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/>
              <a:t>Page</a:t>
            </a:r>
            <a:r>
              <a:rPr dirty="0" spc="-130"/>
              <a:t> </a:t>
            </a:r>
            <a:fld id="{81D60167-4931-47E6-BA6A-407CBD079E47}" type="slidenum">
              <a:rPr dirty="0" spc="-210"/>
              <a:t>10</a:t>
            </a:fld>
            <a:r>
              <a:rPr dirty="0" spc="-125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 spc="-25"/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ABHIJITH.R</dc:creator>
  <cp:keywords>DAGywLZ2BC4,BAFXXx0vT0k,0</cp:keywords>
  <dc:title>MAIN PROJECT</dc:title>
  <dcterms:created xsi:type="dcterms:W3CDTF">2026-05-12T16:33:50Z</dcterms:created>
  <dcterms:modified xsi:type="dcterms:W3CDTF">2026-05-12T16:33:50Z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2025-09-17T00:00:00Z</vt:filetime>
  </property>
  <property fmtid="{D5CDD505-2E9C-101B-9397-08002B2CF9AE}" pid="4" name="Creator">
    <vt:lpwstr>Canva</vt:lpwstr>
  </property>
  <property fmtid="{D5CDD505-2E9C-101B-9397-08002B2CF9AE}" pid="5" name="LastSaved">
    <vt:filetime>2026-05-12T00:00:00Z</vt:filetime>
  </property>
  <property fmtid="{D5CDD505-2E9C-101B-9397-08002B2CF9AE}" pid="6" name="Producer">
    <vt:lpwstr>Canva</vt:lpwstr>
  </property>
</Properties>
</file>