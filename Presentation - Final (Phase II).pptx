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sto MT"/>
        <a:ea typeface="Calisto MT"/>
        <a:cs typeface="Calisto MT"/>
        <a:sym typeface="Calisto M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CECB"/>
          </a:solidFill>
        </a:fill>
      </a:tcStyle>
    </a:wholeTbl>
    <a:band2H>
      <a:tcTxStyle/>
      <a:tcStyle>
        <a:tcBdr/>
        <a:fill>
          <a:solidFill>
            <a:srgbClr val="F3E8E7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D8CD"/>
          </a:solidFill>
        </a:fill>
      </a:tcStyle>
    </a:wholeTbl>
    <a:band2H>
      <a:tcTxStyle/>
      <a:tcStyle>
        <a:tcBdr/>
        <a:fill>
          <a:solidFill>
            <a:srgbClr val="F3EDE8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DED6"/>
          </a:solidFill>
        </a:fill>
      </a:tcStyle>
    </a:wholeTbl>
    <a:band2H>
      <a:tcTxStyle/>
      <a:tcStyle>
        <a:tcBdr/>
        <a:fill>
          <a:solidFill>
            <a:srgbClr val="F1EFEC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sto MT"/>
          <a:ea typeface="Calisto MT"/>
          <a:cs typeface="Calisto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sto MT"/>
          <a:ea typeface="Calisto MT"/>
          <a:cs typeface="Calisto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70692" y="1769540"/>
            <a:ext cx="9440035" cy="1828802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0692" y="3598338"/>
            <a:ext cx="9440035" cy="1049868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913794" y="1732448"/>
            <a:ext cx="10353763" cy="405875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1295400" y="1761066"/>
            <a:ext cx="9590552" cy="1828814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95400" y="3589878"/>
            <a:ext cx="9590552" cy="150705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13794" y="1732448"/>
            <a:ext cx="5060498" cy="405875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9" descr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4" y="1734505"/>
            <a:ext cx="5089073" cy="41487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484" y="1734505"/>
            <a:ext cx="5089073" cy="414877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05872" y="1835254"/>
            <a:ext cx="4876344" cy="544885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 sz="2400"/>
            </a:lvl1pPr>
            <a:lvl2pPr marL="0" indent="457200" algn="ctr">
              <a:buClrTx/>
              <a:buSzTx/>
              <a:buNone/>
              <a:defRPr sz="2400"/>
            </a:lvl2pPr>
            <a:lvl3pPr marL="0" indent="914400" algn="ctr">
              <a:buClrTx/>
              <a:buSzTx/>
              <a:buNone/>
              <a:defRPr sz="2400"/>
            </a:lvl3pPr>
            <a:lvl4pPr marL="0" indent="1371600" algn="ctr">
              <a:buClrTx/>
              <a:buSzTx/>
              <a:buNone/>
              <a:defRPr sz="2400"/>
            </a:lvl4pPr>
            <a:lvl5pPr marL="0" indent="1828800" algn="ctr">
              <a:buClrTx/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294966" y="1835254"/>
            <a:ext cx="4895332" cy="544884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/>
            </a:pPr>
            <a:endParaRPr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3706890" cy="1821919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55633" y="609600"/>
            <a:ext cx="6411925" cy="5181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13794" y="2431518"/>
            <a:ext cx="3706890" cy="3359682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/>
            </a:pPr>
            <a:endParaRPr/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1" descr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664" y="609600"/>
            <a:ext cx="3584167" cy="520483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913794" y="609922"/>
            <a:ext cx="5934950" cy="182933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442551" y="763701"/>
            <a:ext cx="3275751" cy="4912823"/>
          </a:xfrm>
          <a:prstGeom prst="rect">
            <a:avLst/>
          </a:prstGeom>
          <a:effectLst>
            <a:outerShdw blurRad="38100" dist="25400" dir="4440000" rotWithShape="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13794" y="2439260"/>
            <a:ext cx="5934950" cy="337613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82" y="547807"/>
            <a:ext cx="10141800" cy="381680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7" cy="543473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97" name="Picture Placeholder 2"/>
          <p:cNvSpPr>
            <a:spLocks noGrp="1"/>
          </p:cNvSpPr>
          <p:nvPr>
            <p:ph type="pic" idx="21"/>
          </p:nvPr>
        </p:nvSpPr>
        <p:spPr>
          <a:xfrm>
            <a:off x="1169348" y="695008"/>
            <a:ext cx="9845348" cy="3525672"/>
          </a:xfrm>
          <a:prstGeom prst="rect">
            <a:avLst/>
          </a:prstGeom>
          <a:effectLst>
            <a:outerShdw blurRad="38100" dist="25400" dir="4440000" rotWithShape="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3794" y="5108728"/>
            <a:ext cx="10353763" cy="68247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xfrm>
            <a:off x="913794" y="608436"/>
            <a:ext cx="10353763" cy="353434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3794" y="4295180"/>
            <a:ext cx="10353764" cy="1501827"/>
          </a:xfrm>
          <a:prstGeom prst="rect">
            <a:avLst/>
          </a:prstGeom>
        </p:spPr>
        <p:txBody>
          <a:bodyPr anchor="ctr"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3" cy="29929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20644" y="3610031"/>
            <a:ext cx="8752300" cy="532750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1400"/>
            </a:lvl1pPr>
            <a:lvl2pPr marL="0" indent="457200" algn="r">
              <a:buClrTx/>
              <a:buSzTx/>
              <a:buNone/>
              <a:defRPr sz="1400"/>
            </a:lvl2pPr>
            <a:lvl3pPr marL="0" indent="914400" algn="r">
              <a:buClrTx/>
              <a:buSzTx/>
              <a:buNone/>
              <a:defRPr sz="1400"/>
            </a:lvl3pPr>
            <a:lvl4pPr marL="0" indent="1371600" algn="r">
              <a:buClrTx/>
              <a:buSzTx/>
              <a:buNone/>
              <a:defRPr sz="1400"/>
            </a:lvl4pPr>
            <a:lvl5pPr marL="0" indent="1828800" algn="r">
              <a:buClrTx/>
              <a:buSz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13793" y="4304353"/>
            <a:ext cx="10353765" cy="1489497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ClrTx/>
              <a:buSzTx/>
              <a:buNone/>
              <a:defRPr sz="1600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Box 10"/>
          <p:cNvSpPr txBox="1"/>
          <p:nvPr/>
        </p:nvSpPr>
        <p:spPr>
          <a:xfrm>
            <a:off x="1036319" y="521863"/>
            <a:ext cx="5181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“</a:t>
            </a:r>
          </a:p>
        </p:txBody>
      </p:sp>
      <p:sp>
        <p:nvSpPr>
          <p:cNvPr id="120" name="TextBox 12"/>
          <p:cNvSpPr txBox="1"/>
          <p:nvPr/>
        </p:nvSpPr>
        <p:spPr>
          <a:xfrm>
            <a:off x="10550435" y="2565326"/>
            <a:ext cx="5181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 cap="all">
                <a:solidFill>
                  <a:srgbClr val="FFFFFF"/>
                </a:solidFill>
              </a:defRPr>
            </a:lvl1pPr>
          </a:lstStyle>
          <a:p>
            <a:r>
              <a:t>”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4" cy="251183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3783" y="4650556"/>
            <a:ext cx="10352201" cy="114064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1600"/>
            </a:lvl1pPr>
            <a:lvl2pPr marL="0" indent="457200" algn="ctr">
              <a:buClrTx/>
              <a:buSzTx/>
              <a:buNone/>
              <a:defRPr sz="1600"/>
            </a:lvl2pPr>
            <a:lvl3pPr marL="0" indent="914400" algn="ctr">
              <a:buClrTx/>
              <a:buSzTx/>
              <a:buNone/>
              <a:defRPr sz="1600"/>
            </a:lvl3pPr>
            <a:lvl4pPr marL="0" indent="1371600" algn="ctr">
              <a:buClrTx/>
              <a:buSzTx/>
              <a:buNone/>
              <a:defRPr sz="1600"/>
            </a:lvl4pPr>
            <a:lvl5pPr marL="0" indent="1828800" algn="ctr">
              <a:buClrTx/>
              <a:buSz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3794" y="1885950"/>
            <a:ext cx="3300986" cy="576263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13794" y="2571750"/>
            <a:ext cx="3300986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3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446711" y="1885950"/>
            <a:ext cx="3300985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4441435" y="2571750"/>
            <a:ext cx="3300985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41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7966571" y="1885950"/>
            <a:ext cx="3300986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7966571" y="2571750"/>
            <a:ext cx="3300986" cy="3219450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61" y="1818214"/>
            <a:ext cx="3339974" cy="1847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35" descr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00" y="1818214"/>
            <a:ext cx="3339973" cy="1847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36" descr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51" y="1818214"/>
            <a:ext cx="3339973" cy="184785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itle Text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4" cy="9704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3794" y="3904105"/>
            <a:ext cx="3300986" cy="576263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018102" y="1938918"/>
            <a:ext cx="3092369" cy="1602955"/>
          </a:xfrm>
          <a:prstGeom prst="rect">
            <a:avLst/>
          </a:prstGeom>
          <a:effectLst>
            <a:outerShdw blurRad="38100" dist="25400" dir="4440000" rotWithShape="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56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913794" y="4480367"/>
            <a:ext cx="3300986" cy="1310834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57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4442788" y="3904105"/>
            <a:ext cx="3300985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8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545743" y="1939094"/>
            <a:ext cx="3092369" cy="1608165"/>
          </a:xfrm>
          <a:prstGeom prst="rect">
            <a:avLst/>
          </a:prstGeom>
          <a:effectLst>
            <a:outerShdw blurRad="38100" dist="25400" dir="4440000" rotWithShape="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59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4441435" y="4480366"/>
            <a:ext cx="3300985" cy="1310834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60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7966696" y="3904105"/>
            <a:ext cx="3300985" cy="576263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8075697" y="1934431"/>
            <a:ext cx="3092369" cy="1607295"/>
          </a:xfrm>
          <a:prstGeom prst="rect">
            <a:avLst/>
          </a:prstGeom>
          <a:effectLst>
            <a:outerShdw blurRad="38100" dist="25400" dir="4440000" rotWithShape="0">
              <a:srgbClr val="000000">
                <a:alpha val="36000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62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7966571" y="4480364"/>
            <a:ext cx="3300986" cy="1310836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400"/>
            </a:pPr>
            <a:endParaRPr/>
          </a:p>
        </p:txBody>
      </p:sp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ln w="12700">
            <a:miter lim="400000"/>
          </a:ln>
          <a:effectLst>
            <a:outerShdw blurRad="25400" dir="17880000" rotWithShape="0">
              <a:srgbClr val="000000">
                <a:alpha val="46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solidFill>
                  <a:srgbClr val="F2F2F2"/>
                </a:solidFill>
                <a:effectLst>
                  <a:outerShdw blurRad="50800" dist="38100" dir="2700000" rotWithShape="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ffectLst>
            <a:outerShdw blurRad="25400" dir="17880000" rotWithShape="0">
              <a:srgbClr val="000000">
                <a:alpha val="46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9pPr>
    </p:titleStyle>
    <p:bodyStyle>
      <a:lvl1pPr marL="342900" marR="0" indent="-305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1pPr>
      <a:lvl2pPr marL="749999" marR="0" indent="-299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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2pPr>
      <a:lvl3pPr marL="1079999" marR="0" indent="-269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3pPr>
      <a:lvl4pPr marL="1478571" marR="0" indent="-308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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4pPr>
      <a:lvl5pPr marL="1766571" marR="0" indent="-308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5pPr>
      <a:lvl6pPr marL="21125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6pPr>
      <a:lvl7pPr marL="24997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7pPr>
      <a:lvl8pPr marL="28869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8pPr>
      <a:lvl9pPr marL="3204171" marR="0" indent="-326571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DADADA"/>
        </a:buClr>
        <a:buSzPct val="70000"/>
        <a:buFontTx/>
        <a:buChar char=""/>
        <a:tabLst/>
        <a:defRPr sz="2000" b="0" i="0" u="none" strike="noStrike" cap="none" spc="0" baseline="0">
          <a:ln w="9525" cap="flat">
            <a:solidFill>
              <a:srgbClr val="404040">
                <a:alpha val="10000"/>
              </a:srgbClr>
            </a:solidFill>
            <a:prstDash val="solid"/>
            <a:round/>
          </a:ln>
          <a:solidFill>
            <a:srgbClr val="DADADA"/>
          </a:solidFill>
          <a:effectLst>
            <a:outerShdw blurRad="12700" dist="25400" dir="14640000" rotWithShape="0">
              <a:srgbClr val="000000">
                <a:alpha val="30000"/>
              </a:srgbClr>
            </a:outerShdw>
          </a:effectLst>
          <a:uFillTx/>
          <a:latin typeface="Calisto MT"/>
          <a:ea typeface="Calisto MT"/>
          <a:cs typeface="Calisto MT"/>
          <a:sym typeface="Calisto MT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effectLst>
            <a:outerShdw blurRad="50800" dist="38100" dir="2700000" rotWithShape="0">
              <a:srgbClr val="000000">
                <a:alpha val="43000"/>
              </a:srgbClr>
            </a:outerShdw>
          </a:effectLst>
          <a:uFillTx/>
          <a:latin typeface="+mn-lt"/>
          <a:ea typeface="+mn-ea"/>
          <a:cs typeface="+mn-cs"/>
          <a:sym typeface="Calisto M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"/>
          <p:cNvSpPr txBox="1">
            <a:spLocks noGrp="1"/>
          </p:cNvSpPr>
          <p:nvPr>
            <p:ph type="ctrTitle"/>
          </p:nvPr>
        </p:nvSpPr>
        <p:spPr>
          <a:xfrm>
            <a:off x="1284732" y="722374"/>
            <a:ext cx="9622536" cy="1315405"/>
          </a:xfrm>
          <a:prstGeom prst="rect">
            <a:avLst/>
          </a:prstGeom>
        </p:spPr>
        <p:txBody>
          <a:bodyPr/>
          <a:lstStyle/>
          <a:p>
            <a:r>
              <a:t>PROJECT PHASE II – FINAL</a:t>
            </a:r>
          </a:p>
        </p:txBody>
      </p:sp>
      <p:sp>
        <p:nvSpPr>
          <p:cNvPr id="173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1295400" y="2395029"/>
            <a:ext cx="9144000" cy="103397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1500"/>
            </a:pPr>
            <a:r>
              <a:t>ZIPCLIP: AI–DRIVEN CONTENT CLIPPING &amp; REEL GENERATION SYSTEM</a:t>
            </a:r>
          </a:p>
          <a:p>
            <a:pPr>
              <a:lnSpc>
                <a:spcPct val="80000"/>
              </a:lnSpc>
              <a:defRPr sz="1500"/>
            </a:pPr>
            <a:endParaRPr/>
          </a:p>
          <a:p>
            <a:pPr algn="l">
              <a:lnSpc>
                <a:spcPct val="80000"/>
              </a:lnSpc>
              <a:defRPr sz="1500"/>
            </a:pPr>
            <a:r>
              <a:t>       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1491391" y="3813047"/>
            <a:ext cx="1611978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Team Members:</a:t>
            </a:r>
          </a:p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Anirudh K B</a:t>
            </a:r>
          </a:p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Abhijith R</a:t>
            </a:r>
          </a:p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Jesvin J</a:t>
            </a:r>
          </a:p>
        </p:txBody>
      </p:sp>
      <p:sp>
        <p:nvSpPr>
          <p:cNvPr id="175" name="TextBox 5"/>
          <p:cNvSpPr txBox="1"/>
          <p:nvPr/>
        </p:nvSpPr>
        <p:spPr>
          <a:xfrm>
            <a:off x="8231647" y="3874603"/>
            <a:ext cx="2952088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600" dirty="0"/>
              <a:t>Under the guidance of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sz="2000" dirty="0"/>
              <a:t>Mrs.</a:t>
            </a:r>
            <a:r>
              <a:rPr lang="en-US" sz="2000" dirty="0"/>
              <a:t> </a:t>
            </a:r>
            <a:r>
              <a:rPr sz="2000" dirty="0"/>
              <a:t>Sabitha Raju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Head of the Department,</a:t>
            </a:r>
            <a:r>
              <a:rPr lang="en-US" dirty="0"/>
              <a:t> </a:t>
            </a:r>
            <a:r>
              <a:rPr dirty="0"/>
              <a:t>CG</a:t>
            </a:r>
          </a:p>
        </p:txBody>
      </p:sp>
      <p:sp>
        <p:nvSpPr>
          <p:cNvPr id="176" name="Slide Number Placeholder 6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17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r>
              <a:t>Long-form videos are time-consuming to consume</a:t>
            </a:r>
          </a:p>
          <a:p>
            <a:r>
              <a:t>Creators struggle to manually find engaging highlights</a:t>
            </a:r>
          </a:p>
          <a:p>
            <a:r>
              <a:t>Lack of intelligent automation for reel creation</a:t>
            </a:r>
          </a:p>
          <a:p>
            <a:r>
              <a:t>Existing tools focus only on trimming, not intelligent content detection</a:t>
            </a:r>
          </a:p>
          <a:p>
            <a:r>
              <a:t>High processing time and effort for social-media optimized clips</a:t>
            </a:r>
          </a:p>
          <a:p>
            <a:r>
              <a:t>No unified platform to analyze, generate, preview and export clips</a:t>
            </a:r>
            <a:br/>
            <a:endParaRPr/>
          </a:p>
        </p:txBody>
      </p:sp>
      <p:sp>
        <p:nvSpPr>
          <p:cNvPr id="18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OBJECTIVES</a:t>
            </a:r>
          </a:p>
        </p:txBody>
      </p:sp>
      <p:sp>
        <p:nvSpPr>
          <p:cNvPr id="18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r>
              <a:t>Develop an AI-powered platform to automatically extract highlights</a:t>
            </a:r>
          </a:p>
          <a:p>
            <a:r>
              <a:t>Analyze video using visual, audio, and text cues</a:t>
            </a:r>
          </a:p>
          <a:p>
            <a:r>
              <a:t>Generate short clips and story reels automatically</a:t>
            </a:r>
          </a:p>
          <a:p>
            <a:r>
              <a:t>Improve engagement quality while maintaining efficient processing</a:t>
            </a:r>
          </a:p>
          <a:p>
            <a:r>
              <a:t>Export platform-ready outputs (Shorts, Reels, TikTok)</a:t>
            </a:r>
            <a:br/>
            <a:br/>
            <a:endParaRPr/>
          </a:p>
        </p:txBody>
      </p:sp>
      <p:sp>
        <p:nvSpPr>
          <p:cNvPr id="18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18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22939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r>
              <a:t>Explosive growth of short-video platforms</a:t>
            </a:r>
          </a:p>
          <a:p>
            <a:r>
              <a:t>Creators need faster content turnaround</a:t>
            </a:r>
          </a:p>
          <a:p>
            <a:r>
              <a:t>Manual editing requires time, expertise and effort</a:t>
            </a:r>
          </a:p>
          <a:p>
            <a:r>
              <a:t>AI advancements enable automated highlight detection</a:t>
            </a:r>
          </a:p>
          <a:p>
            <a:r>
              <a:t>Demand for scalable, reliable and reusable clip generation tools</a:t>
            </a:r>
          </a:p>
          <a:p>
            <a:pPr marL="0" indent="0">
              <a:buSzTx/>
              <a:buFont typeface="Wingdings 2"/>
              <a:buNone/>
            </a:pPr>
            <a:br/>
            <a:br/>
            <a:endParaRPr/>
          </a:p>
        </p:txBody>
      </p:sp>
      <p:sp>
        <p:nvSpPr>
          <p:cNvPr id="18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LITERATURE REVIEW</a:t>
            </a:r>
          </a:p>
        </p:txBody>
      </p:sp>
      <p:sp>
        <p:nvSpPr>
          <p:cNvPr id="19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/>
            </a:pPr>
            <a:r>
              <a:t>Key Papers</a:t>
            </a:r>
          </a:p>
          <a:p>
            <a:pPr marL="0" indent="36900">
              <a:buSzTx/>
              <a:buFont typeface="Wingdings 2"/>
              <a:buNone/>
              <a:defRPr b="1"/>
            </a:pPr>
            <a:endParaRPr/>
          </a:p>
          <a:p>
            <a:r>
              <a:t>SumBot: Summarize Videos Like a Human</a:t>
            </a:r>
          </a:p>
          <a:p>
            <a:r>
              <a:t>Video summarization using deep learning techniques: a comprehensive review</a:t>
            </a:r>
          </a:p>
          <a:p>
            <a:r>
              <a:t>Video summarization for event-centric videos</a:t>
            </a:r>
          </a:p>
          <a:p>
            <a:r>
              <a:t>AI-driven video summarization for optimizing content search and retrieval efficiency</a:t>
            </a:r>
          </a:p>
          <a:p>
            <a:r>
              <a:t>Zero-shot scene change detection</a:t>
            </a:r>
            <a:br/>
            <a:endParaRPr/>
          </a:p>
        </p:txBody>
      </p:sp>
      <p:sp>
        <p:nvSpPr>
          <p:cNvPr id="19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RESEARCH GAPS</a:t>
            </a:r>
          </a:p>
        </p:txBody>
      </p:sp>
      <p:sp>
        <p:nvSpPr>
          <p:cNvPr id="19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/>
            </a:pPr>
            <a:r>
              <a:t>SumBot: Summarize Videos Like a Human</a:t>
            </a:r>
          </a:p>
          <a:p>
            <a:r>
              <a:t>Uses linear reward modelling</a:t>
            </a:r>
          </a:p>
          <a:p>
            <a:r>
              <a:t>Limited to semi-structured domains (e.g., sports)</a:t>
            </a:r>
          </a:p>
          <a:p>
            <a:r>
              <a:t>Not generalized for diverse creator content</a:t>
            </a:r>
          </a:p>
          <a:p>
            <a:pPr marL="0" indent="36900">
              <a:buSzTx/>
              <a:buFont typeface="Wingdings 2"/>
              <a:buNone/>
              <a:defRPr b="1"/>
            </a:pPr>
            <a:r>
              <a:t>Video summarization using deep learning techniques: a comprehensive review</a:t>
            </a:r>
          </a:p>
          <a:p>
            <a:r>
              <a:t>Limited evaluation on real-time and interactive systems</a:t>
            </a:r>
          </a:p>
          <a:p>
            <a:r>
              <a:t>Bias in commonly used datasets</a:t>
            </a:r>
          </a:p>
          <a:p>
            <a:r>
              <a:t>Focuses on models, not end-to-end deployable platforms</a:t>
            </a:r>
          </a:p>
        </p:txBody>
      </p:sp>
      <p:sp>
        <p:nvSpPr>
          <p:cNvPr id="19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RESEARCH GAPS</a:t>
            </a:r>
          </a:p>
        </p:txBody>
      </p:sp>
      <p:sp>
        <p:nvSpPr>
          <p:cNvPr id="19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/>
            </a:pPr>
            <a:r>
              <a:t>Video summarization for event-centric videos</a:t>
            </a:r>
          </a:p>
          <a:p>
            <a:r>
              <a:t>Designed mainly for event-centric content</a:t>
            </a:r>
          </a:p>
          <a:p>
            <a:r>
              <a:t>Not evaluated on short-form social media videos</a:t>
            </a:r>
          </a:p>
          <a:p>
            <a:r>
              <a:t>Limited adaptability across diverse video domains</a:t>
            </a:r>
          </a:p>
          <a:p>
            <a:pPr marL="0" indent="36900">
              <a:buSzTx/>
              <a:buFont typeface="Wingdings 2"/>
              <a:buNone/>
              <a:defRPr b="1"/>
            </a:pPr>
            <a:r>
              <a:t>AI-driven video summarization for optimizing content search and retrieval efficiency</a:t>
            </a:r>
          </a:p>
          <a:p>
            <a:r>
              <a:t>Optimized for search and retrieval, not content creation</a:t>
            </a:r>
          </a:p>
          <a:p>
            <a:r>
              <a:t>Evaluation limited to YouTube-style platforms</a:t>
            </a:r>
          </a:p>
          <a:p>
            <a:r>
              <a:t>Lacks user-centric preview and editing support</a:t>
            </a:r>
          </a:p>
        </p:txBody>
      </p:sp>
      <p:sp>
        <p:nvSpPr>
          <p:cNvPr id="20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RESEARCH GAPS</a:t>
            </a:r>
          </a:p>
        </p:txBody>
      </p:sp>
      <p:sp>
        <p:nvSpPr>
          <p:cNvPr id="20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/>
            </a:pPr>
            <a:r>
              <a:t>Zero-shot scene change detection</a:t>
            </a:r>
          </a:p>
          <a:p>
            <a:r>
              <a:t>May miss subtle or semantic transitions</a:t>
            </a:r>
          </a:p>
          <a:p>
            <a:r>
              <a:t>Focuses only on scene boundaries</a:t>
            </a:r>
          </a:p>
          <a:p>
            <a:r>
              <a:t>Does not consider emotional or contextual importance</a:t>
            </a:r>
          </a:p>
        </p:txBody>
      </p:sp>
      <p:sp>
        <p:nvSpPr>
          <p:cNvPr id="20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9915" y="5937567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LITERATURE REVIEW</a:t>
            </a:r>
          </a:p>
        </p:txBody>
      </p:sp>
      <p:pic>
        <p:nvPicPr>
          <p:cNvPr id="207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1731963"/>
            <a:ext cx="10353763" cy="4516438"/>
          </a:xfrm>
          <a:prstGeom prst="rect">
            <a:avLst/>
          </a:prstGeom>
          <a:ln w="12700">
            <a:miter lim="400000"/>
          </a:ln>
          <a:effectLst>
            <a:outerShdw blurRad="25400" dir="17880000" rotWithShape="0">
              <a:srgbClr val="000000">
                <a:alpha val="46000"/>
              </a:srgbClr>
            </a:outerShdw>
          </a:effectLst>
        </p:spPr>
      </p:pic>
      <p:sp>
        <p:nvSpPr>
          <p:cNvPr id="208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87337" y="6272042"/>
            <a:ext cx="1676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LITERATURE REVIEW</a:t>
            </a:r>
          </a:p>
        </p:txBody>
      </p:sp>
      <p:pic>
        <p:nvPicPr>
          <p:cNvPr id="211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580049"/>
            <a:ext cx="10353763" cy="4668351"/>
          </a:xfrm>
          <a:prstGeom prst="rect">
            <a:avLst/>
          </a:prstGeom>
          <a:ln w="12700">
            <a:miter lim="400000"/>
          </a:ln>
          <a:effectLst>
            <a:outerShdw blurRad="25400" dir="17880000" rotWithShape="0">
              <a:srgbClr val="000000">
                <a:alpha val="46000"/>
              </a:srgbClr>
            </a:outerShdw>
          </a:effectLst>
        </p:spPr>
      </p:pic>
      <p:sp>
        <p:nvSpPr>
          <p:cNvPr id="212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57623" y="6278306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LITERATURE REVIEW</a:t>
            </a:r>
          </a:p>
        </p:txBody>
      </p:sp>
      <p:pic>
        <p:nvPicPr>
          <p:cNvPr id="215" name="Content Placeholder 8" descr="Content Placeholder 8"/>
          <p:cNvPicPr>
            <a:picLocks noChangeAspect="1"/>
          </p:cNvPicPr>
          <p:nvPr/>
        </p:nvPicPr>
        <p:blipFill>
          <a:blip r:embed="rId2"/>
          <a:srcRect b="48188"/>
          <a:stretch>
            <a:fillRect/>
          </a:stretch>
        </p:blipFill>
        <p:spPr>
          <a:xfrm>
            <a:off x="913794" y="2342050"/>
            <a:ext cx="10353763" cy="2418756"/>
          </a:xfrm>
          <a:prstGeom prst="rect">
            <a:avLst/>
          </a:prstGeom>
          <a:ln w="12700">
            <a:miter lim="400000"/>
          </a:ln>
          <a:effectLst>
            <a:outerShdw blurRad="25400" dir="17880000" rotWithShape="0">
              <a:srgbClr val="000000">
                <a:alpha val="46000"/>
              </a:srgbClr>
            </a:outerShdw>
          </a:effectLst>
        </p:spPr>
      </p:pic>
      <p:sp>
        <p:nvSpPr>
          <p:cNvPr id="21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653714" y="6376479"/>
            <a:ext cx="22649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2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r>
              <a:rPr dirty="0" err="1"/>
              <a:t>ZipClip</a:t>
            </a:r>
            <a:r>
              <a:rPr dirty="0"/>
              <a:t> automates highlight extraction and reel creation using AI</a:t>
            </a:r>
            <a:br>
              <a:rPr dirty="0"/>
            </a:br>
            <a:r>
              <a:rPr dirty="0"/>
              <a:t>Multimodal analysis:</a:t>
            </a:r>
          </a:p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endParaRPr dirty="0"/>
          </a:p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r>
              <a:rPr dirty="0"/>
              <a:t>–</a:t>
            </a:r>
            <a:r>
              <a:rPr lang="en-US" dirty="0"/>
              <a:t>	</a:t>
            </a:r>
            <a:r>
              <a:rPr dirty="0"/>
              <a:t>Video frame analysis</a:t>
            </a:r>
          </a:p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r>
              <a:rPr lang="en-IN" dirty="0"/>
              <a:t>–	</a:t>
            </a:r>
            <a:r>
              <a:rPr dirty="0"/>
              <a:t>Audio transcription</a:t>
            </a:r>
          </a:p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r>
              <a:rPr dirty="0"/>
              <a:t>–</a:t>
            </a:r>
            <a:r>
              <a:rPr lang="en-US" dirty="0"/>
              <a:t>	</a:t>
            </a:r>
            <a:r>
              <a:rPr dirty="0"/>
              <a:t>NLP-based context understanding</a:t>
            </a:r>
          </a:p>
          <a:p>
            <a:pPr marL="0" indent="0">
              <a:lnSpc>
                <a:spcPct val="80000"/>
              </a:lnSpc>
              <a:buSzTx/>
              <a:buFont typeface="Wingdings 2"/>
              <a:buNone/>
              <a:defRPr sz="1700"/>
            </a:pPr>
            <a:endParaRPr dirty="0"/>
          </a:p>
          <a:p>
            <a:pPr>
              <a:lnSpc>
                <a:spcPct val="80000"/>
              </a:lnSpc>
              <a:defRPr sz="1700"/>
            </a:pPr>
            <a:r>
              <a:rPr dirty="0"/>
              <a:t>User dashboard for preview and manual fine-tuning</a:t>
            </a:r>
          </a:p>
          <a:p>
            <a:pPr>
              <a:lnSpc>
                <a:spcPct val="80000"/>
              </a:lnSpc>
              <a:defRPr sz="1700"/>
            </a:pPr>
            <a:r>
              <a:rPr dirty="0"/>
              <a:t>Generate platform-optimized vertical short-form videos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22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SYSTEM ARCHITECTURE</a:t>
            </a:r>
          </a:p>
        </p:txBody>
      </p:sp>
      <p:sp>
        <p:nvSpPr>
          <p:cNvPr id="223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24" name="updated architecture proposed system .png" descr="updated architecture proposed system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562" y="1482817"/>
            <a:ext cx="4656876" cy="49115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NOVELTY &amp; SCOPE</a:t>
            </a:r>
          </a:p>
        </p:txBody>
      </p:sp>
      <p:sp>
        <p:nvSpPr>
          <p:cNvPr id="22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r>
              <a:t>Combined transcript, scene, and visual analysis for highlight extraction</a:t>
            </a:r>
          </a:p>
          <a:p>
            <a:r>
              <a:t>Automated story reel creation from photos</a:t>
            </a:r>
          </a:p>
          <a:p>
            <a:r>
              <a:t>Bridges gap between AI-assisted automation and creator productivity</a:t>
            </a:r>
          </a:p>
          <a:p>
            <a:r>
              <a:t>Modular, scalable, cloud-deployable architecture</a:t>
            </a:r>
          </a:p>
          <a:p>
            <a:r>
              <a:t>Full stack AI content automation platform</a:t>
            </a:r>
          </a:p>
          <a:p>
            <a:r>
              <a:t>Supports long videos + photo-based reel creation</a:t>
            </a:r>
          </a:p>
          <a:p>
            <a:r>
              <a:t>Preview support for generated clips</a:t>
            </a:r>
          </a:p>
          <a:p>
            <a:r>
              <a:t>Future expandability to direct social media publishing</a:t>
            </a:r>
          </a:p>
          <a:p>
            <a:pPr marL="0" indent="0">
              <a:buSzTx/>
              <a:buFont typeface="Wingdings 2"/>
              <a:buNone/>
            </a:pPr>
            <a:br/>
            <a:endParaRPr/>
          </a:p>
        </p:txBody>
      </p:sp>
      <p:sp>
        <p:nvSpPr>
          <p:cNvPr id="22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TEAM ROLE &amp; TASK DISTRIBUTION</a:t>
            </a:r>
          </a:p>
        </p:txBody>
      </p:sp>
      <p:sp>
        <p:nvSpPr>
          <p:cNvPr id="23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77755" y="1878814"/>
            <a:ext cx="10425842" cy="405875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2"/>
              <a:buNone/>
              <a:defRPr b="1"/>
            </a:pPr>
            <a:r>
              <a:rPr lang="en-IN" dirty="0"/>
              <a:t>Jesvin J 		–   Backend AI pipelines, processing engine, database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Anirudh K B	–   Frontend dashboard, video upload and playback module &amp; UI 							     implementation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Abhijith R 		–   System architecture design, UI &amp; </a:t>
            </a:r>
            <a:r>
              <a:rPr lang="en-IN" dirty="0" err="1"/>
              <a:t>UX</a:t>
            </a:r>
            <a:r>
              <a:rPr lang="en-IN" dirty="0"/>
              <a:t> design, frontend-backend 						     integration, testing and project documentations</a:t>
            </a:r>
            <a:endParaRPr b="0" dirty="0"/>
          </a:p>
        </p:txBody>
      </p:sp>
      <p:sp>
        <p:nvSpPr>
          <p:cNvPr id="23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IMPLEMENTATION</a:t>
            </a:r>
          </a:p>
        </p:txBody>
      </p:sp>
      <p:sp>
        <p:nvSpPr>
          <p:cNvPr id="23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2841" defTabSz="406908">
              <a:spcBef>
                <a:spcPts val="500"/>
              </a:spcBef>
              <a:buSzTx/>
              <a:buFont typeface="Wingdings 2"/>
              <a:buNone/>
              <a:defRPr sz="1779" b="1" u="sng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Data Processing and Extraction</a:t>
            </a:r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Video Input Handling:</a:t>
            </a:r>
            <a:r>
              <a:rPr b="0"/>
              <a:t> The system accepts multiple video formats such as MP4, MOV, AVI, and MKV through a web-based upload interface.</a:t>
            </a:r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Audio Extraction &amp; Transcription:</a:t>
            </a:r>
            <a:r>
              <a:rPr b="0"/>
              <a:t> FFmpeg is used to extract audio tracks from uploaded videos, while OpenAI Whisper generates timestamp-based textual transcripts.</a:t>
            </a:r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Scene Detection &amp; Segmentation:</a:t>
            </a:r>
            <a:r>
              <a:rPr b="0"/>
              <a:t> </a:t>
            </a:r>
            <a:r>
              <a:t>SceneDetect-based shot boundary detection is used to identify scene transitions and divide videos into meaningful segments.</a:t>
            </a:r>
            <a:endParaRPr b="0"/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Transcript Analysis: </a:t>
            </a:r>
            <a:r>
              <a:rPr b="0"/>
              <a:t>GPT-assisted NLP processing analyzes transcripts to identify relevant keywords, important moments, and highlight-worthy segments.</a:t>
            </a:r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Smart Video Processing: </a:t>
            </a:r>
            <a:r>
              <a:rPr b="0"/>
              <a:t>OpenCV-based face detection and motion-aware cropping are used to generate vertical short-form videos optimized for mobile viewing.</a:t>
            </a:r>
          </a:p>
          <a:p>
            <a:pPr marL="305180" indent="-272339" algn="just" defTabSz="406908">
              <a:spcBef>
                <a:spcPts val="500"/>
              </a:spcBef>
              <a:defRPr sz="1779" b="1">
                <a:effectLst>
                  <a:outerShdw blurRad="11303" dist="22606" dir="1464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t>Subtitle Generation: </a:t>
            </a:r>
            <a:r>
              <a:rPr b="0"/>
              <a:t>Timestamp-aligned subtitles are automatically generated and overlaid onto the final video using FFmpeg and ImageMagick.</a:t>
            </a:r>
          </a:p>
        </p:txBody>
      </p:sp>
      <p:sp>
        <p:nvSpPr>
          <p:cNvPr id="23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IMPLEMENTATION</a:t>
            </a:r>
          </a:p>
        </p:txBody>
      </p:sp>
      <p:sp>
        <p:nvSpPr>
          <p:cNvPr id="23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 u="sng"/>
            </a:pPr>
            <a:r>
              <a:t>Multi-Modal AI Analysis</a:t>
            </a:r>
          </a:p>
          <a:p>
            <a:pPr algn="just">
              <a:defRPr b="1"/>
            </a:pPr>
            <a:r>
              <a:t>Multi-Modal Integration:</a:t>
            </a:r>
            <a:r>
              <a:rPr b="0"/>
              <a:t> The system concurrently analyzes visual, audio, and textual signals to ensure a balanced highlight selection.</a:t>
            </a:r>
          </a:p>
          <a:p>
            <a:pPr algn="just">
              <a:defRPr b="1"/>
            </a:pPr>
            <a:r>
              <a:t>Transcript-Based Highlight Detection: </a:t>
            </a:r>
            <a:r>
              <a:rPr b="0"/>
              <a:t>Whisper-generated transcripts are analyzed using GPT-assisted NLP techniques to detect contextually relevant and highlight-worthy moments.</a:t>
            </a:r>
          </a:p>
          <a:p>
            <a:pPr algn="just">
              <a:defRPr b="1"/>
            </a:pPr>
            <a:r>
              <a:t>Narrative Coherence:</a:t>
            </a:r>
            <a:r>
              <a:rPr b="0"/>
              <a:t> The segmentation foundational layer ensures that the extracted highlights maintain a logical flow without abrupt visual discontinuities.</a:t>
            </a:r>
          </a:p>
          <a:p>
            <a:pPr algn="just">
              <a:defRPr b="1"/>
            </a:pPr>
            <a:r>
              <a:t>Smart Cropping &amp; Focus Tracking: </a:t>
            </a:r>
            <a:r>
              <a:rPr b="0"/>
              <a:t>OpenCV-based face detection and motion-aware cropping ensure important subjects remain centered in vertical short-form output.</a:t>
            </a:r>
          </a:p>
        </p:txBody>
      </p:sp>
      <p:sp>
        <p:nvSpPr>
          <p:cNvPr id="24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IMPLEMENTATION</a:t>
            </a:r>
          </a:p>
        </p:txBody>
      </p:sp>
      <p:sp>
        <p:nvSpPr>
          <p:cNvPr id="24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marL="0" indent="36900">
              <a:buSzTx/>
              <a:buFont typeface="Wingdings 2"/>
              <a:buNone/>
              <a:defRPr b="1" u="sng"/>
            </a:pPr>
            <a:r>
              <a:t>System Integration</a:t>
            </a:r>
          </a:p>
          <a:p>
            <a:pPr algn="just">
              <a:defRPr b="1"/>
            </a:pPr>
            <a:r>
              <a:t>Modular Backend:</a:t>
            </a:r>
            <a:r>
              <a:rPr b="0"/>
              <a:t> Developed using Python-based modular services to support scalable AI inference and video processing.</a:t>
            </a:r>
          </a:p>
          <a:p>
            <a:pPr algn="just">
              <a:defRPr b="1"/>
            </a:pPr>
            <a:r>
              <a:t>API Framework:</a:t>
            </a:r>
            <a:r>
              <a:rPr b="0"/>
              <a:t> RESTful APIs facilitate communication between the feature extraction, analytical, and storage modules.</a:t>
            </a:r>
          </a:p>
          <a:p>
            <a:pPr algn="just">
              <a:defRPr b="1"/>
            </a:pPr>
            <a:r>
              <a:t>Containerization:</a:t>
            </a:r>
            <a:r>
              <a:rPr b="0"/>
              <a:t> Deployment environments are containerized (e.g., Docker) to enhance portability and execution efficiency across different computational setups.</a:t>
            </a:r>
          </a:p>
          <a:p>
            <a:pPr algn="just">
              <a:defRPr b="1"/>
            </a:pPr>
            <a:r>
              <a:t>User Interaction:</a:t>
            </a:r>
            <a:r>
              <a:rPr b="0"/>
              <a:t> A Web-based frontend allows users to upload files, select processing modes (e.g., transcript-based or scene-based), and preview results.</a:t>
            </a:r>
          </a:p>
        </p:txBody>
      </p:sp>
      <p:sp>
        <p:nvSpPr>
          <p:cNvPr id="24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rPr dirty="0"/>
              <a:t>SCREENSHOTS</a:t>
            </a:r>
          </a:p>
        </p:txBody>
      </p:sp>
      <p:sp>
        <p:nvSpPr>
          <p:cNvPr id="247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248" name="Screenshot 2026-05-12 at 8.36.33 AM.png" descr="Screenshot 2026-05-12 at 8.36.33 A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8302" y="1940470"/>
            <a:ext cx="5393795" cy="33099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Screenshot 2026-05-12 at 8.36.45 AM.png" descr="Screenshot 2026-05-12 at 8.36.45 A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8015" y="1940470"/>
            <a:ext cx="5237204" cy="33099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itle 1"/>
          <p:cNvSpPr txBox="1">
            <a:spLocks noGrp="1"/>
          </p:cNvSpPr>
          <p:nvPr>
            <p:ph type="title"/>
          </p:nvPr>
        </p:nvSpPr>
        <p:spPr>
          <a:xfrm>
            <a:off x="919119" y="448057"/>
            <a:ext cx="10353762" cy="917448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SCREENSHOTS</a:t>
            </a:r>
            <a:endParaRPr dirty="0"/>
          </a:p>
        </p:txBody>
      </p:sp>
      <p:sp>
        <p:nvSpPr>
          <p:cNvPr id="252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253" name="Screenshot 2026-05-12 at 8.38.20 AM.png" descr="Screenshot 2026-05-12 at 8.38.2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25" y="1724476"/>
            <a:ext cx="5001182" cy="3599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Screenshot 2026-05-12 at 8.38.28 AM.png" descr="Screenshot 2026-05-12 at 8.38.28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21" y="1724476"/>
            <a:ext cx="5807294" cy="35992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APPLICATIONS</a:t>
            </a:r>
          </a:p>
        </p:txBody>
      </p:sp>
      <p:sp>
        <p:nvSpPr>
          <p:cNvPr id="2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algn="just">
              <a:defRPr b="1"/>
            </a:pPr>
            <a:r>
              <a:t>Social Media Content Creation</a:t>
            </a:r>
            <a:r>
              <a:rPr b="0"/>
              <a:t>: Automating the generation of Reels, TikToks, and YouTube Shorts from long-form podcasts, interviews, and vlogs.</a:t>
            </a:r>
          </a:p>
          <a:p>
            <a:pPr algn="just">
              <a:defRPr b="1"/>
            </a:pPr>
            <a:r>
              <a:t>Digital Media Repositories</a:t>
            </a:r>
            <a:r>
              <a:rPr b="0"/>
              <a:t>: Optimizing content search and retrieval by generating concise previews of extensive video archives.</a:t>
            </a:r>
          </a:p>
          <a:p>
            <a:pPr algn="just">
              <a:defRPr b="1"/>
            </a:pPr>
            <a:r>
              <a:t>Corporate &amp; Industrial Use</a:t>
            </a:r>
            <a:r>
              <a:rPr b="0"/>
              <a:t>: Repurposing recorded panel discussions, meetings, or webinars into structured, attention-focused segments for internal training or marketing.</a:t>
            </a:r>
          </a:p>
          <a:p>
            <a:pPr algn="just">
              <a:defRPr b="1"/>
            </a:pPr>
            <a:r>
              <a:t>Personalized Media Consumption</a:t>
            </a:r>
            <a:r>
              <a:rPr b="0"/>
              <a:t>: Enabling users to quickly consume the most "expressive" or "emotionally significant" parts of a video without manual review.</a:t>
            </a:r>
          </a:p>
        </p:txBody>
      </p:sp>
      <p:sp>
        <p:nvSpPr>
          <p:cNvPr id="25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CHALLENGES &amp; RISKS</a:t>
            </a:r>
          </a:p>
        </p:txBody>
      </p:sp>
      <p:sp>
        <p:nvSpPr>
          <p:cNvPr id="2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r>
              <a:t>High compute requirement for AI processing</a:t>
            </a:r>
          </a:p>
          <a:p>
            <a:r>
              <a:t>Latency management</a:t>
            </a:r>
          </a:p>
          <a:p>
            <a:r>
              <a:t>Integration complexity between modules</a:t>
            </a:r>
          </a:p>
          <a:p>
            <a:r>
              <a:t>Dataset &amp; model selection</a:t>
            </a:r>
          </a:p>
          <a:p>
            <a:r>
              <a:t>Scalability concerns</a:t>
            </a:r>
          </a:p>
          <a:p>
            <a:r>
              <a:t>Ensuring accuracy and engagement value</a:t>
            </a:r>
          </a:p>
        </p:txBody>
      </p:sp>
      <p:sp>
        <p:nvSpPr>
          <p:cNvPr id="26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FUTURE ENHANCEMENTS</a:t>
            </a:r>
          </a:p>
        </p:txBody>
      </p:sp>
      <p:sp>
        <p:nvSpPr>
          <p:cNvPr id="26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defRPr sz="1800" b="1"/>
            </a:pPr>
            <a:r>
              <a:t>Direct Social Media API Integration</a:t>
            </a:r>
            <a:r>
              <a:rPr b="0"/>
              <a:t>: Developing automated pipelines to publish generated clips directly to platforms like YouTube Shorts, Instagram Reels, and TikTok.</a:t>
            </a:r>
          </a:p>
          <a:p>
            <a:pPr algn="just">
              <a:lnSpc>
                <a:spcPct val="90000"/>
              </a:lnSpc>
              <a:defRPr sz="1800" b="1"/>
            </a:pPr>
            <a:r>
              <a:t>Real-Time Processing Optimization</a:t>
            </a:r>
            <a:r>
              <a:rPr b="0"/>
              <a:t>: Enhancing backend efficiency to reduce latency during multi-modal analysis, enabling near real-time clip generation for live streams.</a:t>
            </a:r>
          </a:p>
          <a:p>
            <a:pPr algn="just">
              <a:lnSpc>
                <a:spcPct val="90000"/>
              </a:lnSpc>
              <a:defRPr sz="1800" b="1"/>
            </a:pPr>
            <a:r>
              <a:t>Advanced Predictive Engagement Analytics</a:t>
            </a:r>
            <a:r>
              <a:rPr b="0"/>
              <a:t>: Implementing AI models to predict the potential "virality" or audience engagement score of a clip before it is exported.</a:t>
            </a:r>
          </a:p>
          <a:p>
            <a:pPr algn="just">
              <a:lnSpc>
                <a:spcPct val="90000"/>
              </a:lnSpc>
              <a:defRPr sz="1800" b="1"/>
            </a:pPr>
            <a:r>
              <a:t>Robustness under Variable Conditions</a:t>
            </a:r>
            <a:r>
              <a:rPr b="0"/>
              <a:t>: Improving model stability to handle poor lighting, heavy background noise, and facial occlusions in non-studio recording environments.</a:t>
            </a:r>
          </a:p>
        </p:txBody>
      </p:sp>
      <p:sp>
        <p:nvSpPr>
          <p:cNvPr id="26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26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1800" b="1"/>
            </a:pPr>
            <a:r>
              <a:t>Multi-Modal Success</a:t>
            </a:r>
            <a:r>
              <a:rPr b="0"/>
              <a:t>: ZIPCLIP successfully demonstrates that integrating visual, audio, and textual signals provides a more balanced highlight selection than single-modality approaches.</a:t>
            </a:r>
          </a:p>
          <a:p>
            <a:pPr>
              <a:lnSpc>
                <a:spcPct val="80000"/>
              </a:lnSpc>
              <a:defRPr sz="1800" b="1"/>
            </a:pPr>
            <a:r>
              <a:t>Efficiency in Content Creation</a:t>
            </a:r>
            <a:r>
              <a:rPr b="0"/>
              <a:t>: The framework effectively addresses the time-intensive nature of manual editing by automating the extraction of emotionally significant and contextually relevant clips.</a:t>
            </a:r>
          </a:p>
          <a:p>
            <a:pPr>
              <a:lnSpc>
                <a:spcPct val="80000"/>
              </a:lnSpc>
              <a:defRPr sz="1800" b="1"/>
            </a:pPr>
            <a:r>
              <a:t>Narrative Integrity</a:t>
            </a:r>
            <a:r>
              <a:rPr b="0"/>
              <a:t>: By utilizing structural segmentation, the system ensures that generated short-form content maintains narrative coherence and logical flow.</a:t>
            </a:r>
          </a:p>
          <a:p>
            <a:pPr>
              <a:lnSpc>
                <a:spcPct val="80000"/>
              </a:lnSpc>
              <a:defRPr sz="1800" b="1"/>
            </a:pPr>
            <a:r>
              <a:t>User-Centric Automation</a:t>
            </a:r>
            <a:r>
              <a:rPr b="0"/>
              <a:t>: The platform bridges the gap between AI research and practical application by providing a unified dashboard for generation, previewing, and exporting.</a:t>
            </a:r>
          </a:p>
          <a:p>
            <a:pPr>
              <a:lnSpc>
                <a:spcPct val="80000"/>
              </a:lnSpc>
              <a:defRPr sz="1800" b="1"/>
            </a:pPr>
            <a:r>
              <a:t>Scalability</a:t>
            </a:r>
            <a:r>
              <a:rPr b="0"/>
              <a:t>: The modular, containerized architecture allows the system to scale efficiently for high-volume content production across diverse video domains.</a:t>
            </a:r>
            <a:br>
              <a:rPr b="0"/>
            </a:br>
            <a:br>
              <a:rPr b="0"/>
            </a:br>
            <a:br>
              <a:rPr b="0"/>
            </a:br>
            <a:endParaRPr b="0"/>
          </a:p>
        </p:txBody>
      </p:sp>
      <p:sp>
        <p:nvSpPr>
          <p:cNvPr id="27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</p:spPr>
        <p:txBody>
          <a:bodyPr/>
          <a:lstStyle/>
          <a:p>
            <a:r>
              <a:t>REFERENCE</a:t>
            </a:r>
          </a:p>
        </p:txBody>
      </p:sp>
      <p:sp>
        <p:nvSpPr>
          <p:cNvPr id="27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3795" y="1732448"/>
            <a:ext cx="10353762" cy="405875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H. Gu, S. Petrangeli and V. Swaminathan, "SumBot: Summarize Videos Like a Human," 2020 IEEE International Symposium on Multimedia (ISM), Naples, Italy, 2020, pp. 210-217.</a:t>
            </a:r>
          </a:p>
          <a:p>
            <a:pPr>
              <a:lnSpc>
                <a:spcPct val="90000"/>
              </a:lnSpc>
            </a:pPr>
            <a:r>
              <a:t>X. Zhou, J. Smith, “Video summarization using deep learning techniques: a comprehensive review,” ACM Computing Surveys, vol. 56, no. 3, pp. 44:1–44:39, 2023.</a:t>
            </a:r>
          </a:p>
          <a:p>
            <a:pPr>
              <a:lnSpc>
                <a:spcPct val="90000"/>
              </a:lnSpc>
            </a:pPr>
            <a:r>
              <a:t>Y. Chen, L. Patel, “Video summarization for event-centric videos,” IEEE TNNLS, vol. 34, no. 7, pp. 1126–1138, 2023.</a:t>
            </a:r>
          </a:p>
          <a:p>
            <a:pPr>
              <a:lnSpc>
                <a:spcPct val="90000"/>
              </a:lnSpc>
            </a:pPr>
            <a:r>
              <a:t>M. Gupta, et al, “AI-driven video summarization for optimizing content search and retrieval efficiency,” Sci Rep, vol. 15, no. 2, pp. 141–150, 2025.</a:t>
            </a:r>
          </a:p>
          <a:p>
            <a:pPr>
              <a:lnSpc>
                <a:spcPct val="90000"/>
              </a:lnSpc>
            </a:pPr>
            <a:r>
              <a:t>Y. Wang, J. Lee, “Zero-shot scene change detection,” in AAAI Conf Artif Intell, ACM, vol. 39, no. 3, pp. 32253–32260, 2024.</a:t>
            </a:r>
          </a:p>
        </p:txBody>
      </p:sp>
      <p:sp>
        <p:nvSpPr>
          <p:cNvPr id="27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3027884" y="2736171"/>
            <a:ext cx="6136230" cy="1385656"/>
          </a:xfrm>
          <a:prstGeom prst="rect">
            <a:avLst/>
          </a:prstGeom>
        </p:spPr>
        <p:txBody>
          <a:bodyPr/>
          <a:lstStyle>
            <a:lvl1pPr marL="0" indent="36900">
              <a:spcBef>
                <a:spcPts val="1700"/>
              </a:spcBef>
              <a:buSzTx/>
              <a:buFont typeface="Wingdings 2"/>
              <a:buNone/>
              <a:defRPr sz="7200"/>
            </a:lvl1pPr>
          </a:lstStyle>
          <a:p>
            <a:r>
              <a:t>THANK YOU</a:t>
            </a:r>
          </a:p>
        </p:txBody>
      </p:sp>
      <p:sp>
        <p:nvSpPr>
          <p:cNvPr id="27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36415" y="5937567"/>
            <a:ext cx="231141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0000FF"/>
      </a:hlink>
      <a:folHlink>
        <a:srgbClr val="FF00FF"/>
      </a:folHlink>
    </a:clrScheme>
    <a:fontScheme name="Slat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sto MT"/>
            <a:ea typeface="Calisto MT"/>
            <a:cs typeface="Calisto MT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sto MT"/>
            <a:ea typeface="Calisto MT"/>
            <a:cs typeface="Calisto MT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0000FF"/>
      </a:hlink>
      <a:folHlink>
        <a:srgbClr val="FF00FF"/>
      </a:folHlink>
    </a:clrScheme>
    <a:fontScheme name="Slat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sto MT"/>
            <a:ea typeface="Calisto MT"/>
            <a:cs typeface="Calisto MT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sto MT"/>
            <a:ea typeface="Calisto MT"/>
            <a:cs typeface="Calisto MT"/>
            <a:sym typeface="Calisto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1424</Words>
  <Application>Microsoft Office PowerPoint</Application>
  <PresentationFormat>Widescreen</PresentationFormat>
  <Paragraphs>166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Calisto MT</vt:lpstr>
      <vt:lpstr>Wingdings 2</vt:lpstr>
      <vt:lpstr>Slate</vt:lpstr>
      <vt:lpstr>PROJECT PHASE II – FINAL</vt:lpstr>
      <vt:lpstr>PROBLEM STATEMENT</vt:lpstr>
      <vt:lpstr>OBJECTIVES</vt:lpstr>
      <vt:lpstr>MOTIVATION</vt:lpstr>
      <vt:lpstr>LITERATURE REVIEW</vt:lpstr>
      <vt:lpstr>RESEARCH GAPS</vt:lpstr>
      <vt:lpstr>RESEARCH GAPS</vt:lpstr>
      <vt:lpstr>RESEARCH GAPS</vt:lpstr>
      <vt:lpstr>LITERATURE REVIEW</vt:lpstr>
      <vt:lpstr>LITERATURE REVIEW</vt:lpstr>
      <vt:lpstr>LITERATURE REVIEW</vt:lpstr>
      <vt:lpstr>PROPOSED SOLUTION</vt:lpstr>
      <vt:lpstr>SYSTEM ARCHITECTURE</vt:lpstr>
      <vt:lpstr>NOVELTY &amp; SCOPE</vt:lpstr>
      <vt:lpstr>TEAM ROLE &amp; TASK DISTRIBUTION</vt:lpstr>
      <vt:lpstr>IMPLEMENTATION</vt:lpstr>
      <vt:lpstr>IMPLEMENTATION</vt:lpstr>
      <vt:lpstr>IMPLEMENTATION</vt:lpstr>
      <vt:lpstr>SCREENSHOTS</vt:lpstr>
      <vt:lpstr>SCREENSHOTS</vt:lpstr>
      <vt:lpstr>APPLICATIONS</vt:lpstr>
      <vt:lpstr>CHALLENGES &amp; RISKS</vt:lpstr>
      <vt:lpstr>FUTURE ENHANCEMENTS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Jesvin J</cp:lastModifiedBy>
  <cp:revision>4</cp:revision>
  <dcterms:modified xsi:type="dcterms:W3CDTF">2026-05-12T16:43:23Z</dcterms:modified>
</cp:coreProperties>
</file>